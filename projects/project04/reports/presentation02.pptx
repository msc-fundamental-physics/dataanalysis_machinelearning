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  <p:sldId id="261" r:id="rId5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78945F-1BC5-4E26-9F6E-FEC1B42C1D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007387-77F0-465A-9C88-8D282256D0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B1364D-087E-4FD6-9E19-D00600104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1A01-45B8-42CE-80F9-18C524EA6B07}" type="datetimeFigureOut">
              <a:rPr lang="es-EC" smtClean="0"/>
              <a:t>5/11/2025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AB8648-DCF0-46D8-8B11-A7925A1C1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6A2E07-6953-49F5-8C53-8332DC65B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64B8E-FB91-4443-B6B6-61C426C602C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64983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1E71A6-821E-430F-B473-3A367393D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29B459-7B8C-4EAE-869E-7D524B404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2A4BE5-BB87-415F-97CC-E482B2FFC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1A01-45B8-42CE-80F9-18C524EA6B07}" type="datetimeFigureOut">
              <a:rPr lang="es-EC" smtClean="0"/>
              <a:t>5/11/2025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20F743-2201-4899-9462-7EEB5BA5C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D9B0A7-58DB-431F-A48F-3AC1B45AE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64B8E-FB91-4443-B6B6-61C426C602C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90624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7EB7AD-956E-4B78-8953-E8E313AE0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1943A7-EBBF-432C-AE3E-416B8DA12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130E9F-CC5C-4EBB-929F-112102688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1A01-45B8-42CE-80F9-18C524EA6B07}" type="datetimeFigureOut">
              <a:rPr lang="es-EC" smtClean="0"/>
              <a:t>5/11/2025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FC78D0-E701-4594-87F1-69712B640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40FF0C-3D9A-4D0F-BDAB-E1601A01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64B8E-FB91-4443-B6B6-61C426C602C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87885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DC57E0-89BB-4F4A-B2AC-0D659FB7D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28F63A-E8FE-4F3B-903B-9F5AE12B85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179D08-8C5C-4B53-93AF-BA7017A0AC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FE3123-2218-40DB-A25B-B4D851399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1A01-45B8-42CE-80F9-18C524EA6B07}" type="datetimeFigureOut">
              <a:rPr lang="es-EC" smtClean="0"/>
              <a:t>5/11/2025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53C231-71EE-43E0-AA89-DA329364E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0C8F70F-EB30-4103-AE60-66012B60B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64B8E-FB91-4443-B6B6-61C426C602C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87136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9FC94E-8888-45AC-B48D-6695CAE0C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D7E95F-9B1B-471A-A75A-912963AC5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A02F82-380F-4E28-8112-9FA4E6717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2927484-97D2-4F1F-A1D0-8B13C65112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B11FEB7-A7F4-4CFA-A3E8-3E24094889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4B48AE8-8AB9-400A-BE17-80E9CFA89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1A01-45B8-42CE-80F9-18C524EA6B07}" type="datetimeFigureOut">
              <a:rPr lang="es-EC" smtClean="0"/>
              <a:t>5/11/2025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45C2D8F-DDDE-4F53-BA22-7E7A0E36D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9323BE2-C18A-4800-978F-F3678ED07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64B8E-FB91-4443-B6B6-61C426C602C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22214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CFA703-507F-4298-9452-3DA8D2073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3C572EF-F3B1-4FEF-A19D-512230C1B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1A01-45B8-42CE-80F9-18C524EA6B07}" type="datetimeFigureOut">
              <a:rPr lang="es-EC" smtClean="0"/>
              <a:t>5/11/2025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F81F519-BB37-461A-965B-39DA3CB65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F484473-F0B7-4C1B-B736-D742EDE2F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64B8E-FB91-4443-B6B6-61C426C602C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55983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6807B56-801D-48A3-9C09-76D2674BA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1A01-45B8-42CE-80F9-18C524EA6B07}" type="datetimeFigureOut">
              <a:rPr lang="es-EC" smtClean="0"/>
              <a:t>5/11/2025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7B051AC-B528-40B5-BDCD-4970FB220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E2E90B-EAB0-4D75-BE07-BD7292DFF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64B8E-FB91-4443-B6B6-61C426C602C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78259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D961D-6FB2-4650-A0C9-886305805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491271-7EFE-48E7-8196-427E60C27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AC96AFF-7A4B-4D31-B1A8-E608650FA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99CDB7-C2B4-4EE4-90E3-4C3D2245F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1A01-45B8-42CE-80F9-18C524EA6B07}" type="datetimeFigureOut">
              <a:rPr lang="es-EC" smtClean="0"/>
              <a:t>5/11/2025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B699543-1088-43A3-BBEF-499F24008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5D62DC-ABE7-4D38-9CCB-62970CBAD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64B8E-FB91-4443-B6B6-61C426C602C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34858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27F932-22EA-4C5E-9811-4729DE929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CD7479A-BAEC-4E11-A26A-63688FDA45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5FFF1DB-B775-49A2-8CF8-8451577BF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85C845-60DF-4326-BF8A-D3EA1E7D9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1A01-45B8-42CE-80F9-18C524EA6B07}" type="datetimeFigureOut">
              <a:rPr lang="es-EC" smtClean="0"/>
              <a:t>5/11/2025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DADE1E-57E4-40F7-9A99-A344F4523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883F68-FA0A-4D6F-A22C-C5066774D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64B8E-FB91-4443-B6B6-61C426C602C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91655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BE155F-A6EB-496B-BB28-1BB608DBF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A0DBCEB-D4C7-47E8-ACF6-021B84B31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5BDCC2-F772-4DD2-804A-AF3FC3A5E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1A01-45B8-42CE-80F9-18C524EA6B07}" type="datetimeFigureOut">
              <a:rPr lang="es-EC" smtClean="0"/>
              <a:t>5/11/2025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5E57BA-EC95-4E13-8513-9B5F0D094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4D46D9-C813-4B4D-B2EE-3A253B6FD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64B8E-FB91-4443-B6B6-61C426C602C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82580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4EDCB29-AB1B-4CE2-900C-6A08A7CC8C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DC17B5B-9BEA-4B8B-B204-65FB5B1FC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FBAB45-F2F8-40E1-BDC1-D75A72998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1A01-45B8-42CE-80F9-18C524EA6B07}" type="datetimeFigureOut">
              <a:rPr lang="es-EC" smtClean="0"/>
              <a:t>5/11/2025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FD7BB7-0DB4-47FC-BFB7-6047759E9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FF4327-9DD5-49B9-A17E-201C4717E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64B8E-FB91-4443-B6B6-61C426C602C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89887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533F705-0A20-48A4-AEF0-EF87AA5F4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C7BADE5-CDD7-4E27-8421-53436571A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C2FB17-55C3-4554-97CD-81F156DDC9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01A01-45B8-42CE-80F9-18C524EA6B07}" type="datetimeFigureOut">
              <a:rPr lang="es-EC" smtClean="0"/>
              <a:t>5/11/2025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D0E6A3-9910-4832-BF96-EEFBCDECD0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D5E33F-2631-4FF3-942F-52DC0B6C6A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864B8E-FB91-4443-B6B6-61C426C602CA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08639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779127-6E6C-455A-91F6-E111C134A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7219188" cy="3268520"/>
          </a:xfrm>
        </p:spPr>
        <p:txBody>
          <a:bodyPr>
            <a:normAutofit fontScale="90000"/>
          </a:bodyPr>
          <a:lstStyle/>
          <a:p>
            <a:pPr algn="r"/>
            <a:r>
              <a:rPr lang="en-US" sz="4000" b="1" dirty="0">
                <a:solidFill>
                  <a:schemeClr val="bg1"/>
                </a:solidFill>
              </a:rPr>
              <a:t>From Images to Equations: ML models of zebrafish morphogenesis</a:t>
            </a:r>
            <a:br>
              <a:rPr lang="en-US" sz="4000" b="1" dirty="0">
                <a:solidFill>
                  <a:schemeClr val="bg1"/>
                </a:solidFill>
              </a:rPr>
            </a:br>
            <a:br>
              <a:rPr lang="en-US" sz="4000" b="1" dirty="0">
                <a:solidFill>
                  <a:schemeClr val="bg1"/>
                </a:solidFill>
              </a:rPr>
            </a:br>
            <a:r>
              <a:rPr lang="en-US" sz="4000" b="1" dirty="0">
                <a:solidFill>
                  <a:schemeClr val="bg1"/>
                </a:solidFill>
              </a:rPr>
              <a:t>Project 04 - </a:t>
            </a:r>
            <a:br>
              <a:rPr lang="en-US" sz="4000" b="1" dirty="0">
                <a:solidFill>
                  <a:schemeClr val="bg1"/>
                </a:solidFill>
              </a:rPr>
            </a:br>
            <a:r>
              <a:rPr lang="en-US" sz="4000" b="1" dirty="0">
                <a:solidFill>
                  <a:schemeClr val="bg1"/>
                </a:solidFill>
              </a:rPr>
              <a:t>Latent Mapping of Developmental Trajectories</a:t>
            </a:r>
            <a:br>
              <a:rPr lang="en-US" sz="4000" b="1" dirty="0">
                <a:solidFill>
                  <a:schemeClr val="bg1"/>
                </a:solidFill>
              </a:rPr>
            </a:br>
            <a:r>
              <a:rPr lang="en-US" sz="4000" b="1" dirty="0">
                <a:solidFill>
                  <a:schemeClr val="bg1"/>
                </a:solidFill>
              </a:rPr>
              <a:t>Presentation 02</a:t>
            </a:r>
            <a:endParaRPr lang="es-EC" sz="4000" b="1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89ECDF-7F1E-47D2-8FC6-859FF4A54C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s-ES" dirty="0">
                <a:solidFill>
                  <a:srgbClr val="FFFFFF"/>
                </a:solidFill>
              </a:rPr>
              <a:t>Pablo Escobar</a:t>
            </a:r>
            <a:endParaRPr lang="es-EC" dirty="0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702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779127-6E6C-455A-91F6-E111C134A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3363" y="769021"/>
            <a:ext cx="8990944" cy="3070395"/>
          </a:xfrm>
        </p:spPr>
        <p:txBody>
          <a:bodyPr>
            <a:normAutofit/>
          </a:bodyPr>
          <a:lstStyle/>
          <a:p>
            <a:pPr algn="l"/>
            <a:r>
              <a:rPr lang="es-EC" sz="2400" dirty="0">
                <a:solidFill>
                  <a:schemeClr val="bg1"/>
                </a:solidFill>
              </a:rPr>
              <a:t>*</a:t>
            </a:r>
            <a:r>
              <a:rPr lang="es-EC" sz="2400" dirty="0" err="1">
                <a:solidFill>
                  <a:schemeClr val="bg1"/>
                </a:solidFill>
              </a:rPr>
              <a:t>Current</a:t>
            </a:r>
            <a:r>
              <a:rPr lang="es-EC" sz="2400" dirty="0">
                <a:solidFill>
                  <a:schemeClr val="bg1"/>
                </a:solidFill>
              </a:rPr>
              <a:t> status</a:t>
            </a: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>
                <a:solidFill>
                  <a:schemeClr val="bg1"/>
                </a:solidFill>
              </a:rPr>
              <a:t>• QC + </a:t>
            </a:r>
            <a:r>
              <a:rPr lang="es-EC" sz="2400" dirty="0" err="1">
                <a:solidFill>
                  <a:schemeClr val="bg1"/>
                </a:solidFill>
              </a:rPr>
              <a:t>descriptors</a:t>
            </a:r>
            <a:r>
              <a:rPr lang="es-EC" sz="2400" dirty="0">
                <a:solidFill>
                  <a:schemeClr val="bg1"/>
                </a:solidFill>
              </a:rPr>
              <a:t>: </a:t>
            </a:r>
            <a:r>
              <a:rPr lang="es-EC" sz="2400" dirty="0" err="1">
                <a:solidFill>
                  <a:schemeClr val="bg1"/>
                </a:solidFill>
              </a:rPr>
              <a:t>mutants</a:t>
            </a:r>
            <a:r>
              <a:rPr lang="es-EC" sz="2400" dirty="0">
                <a:solidFill>
                  <a:schemeClr val="bg1"/>
                </a:solidFill>
              </a:rPr>
              <a:t> diverge </a:t>
            </a:r>
            <a:r>
              <a:rPr lang="es-EC" sz="2400" dirty="0" err="1">
                <a:solidFill>
                  <a:schemeClr val="bg1"/>
                </a:solidFill>
              </a:rPr>
              <a:t>early</a:t>
            </a:r>
            <a:r>
              <a:rPr lang="es-EC" sz="2400" dirty="0">
                <a:solidFill>
                  <a:schemeClr val="bg1"/>
                </a:solidFill>
              </a:rPr>
              <a:t> in GLCM </a:t>
            </a:r>
            <a:r>
              <a:rPr lang="es-EC" sz="2400" dirty="0" err="1">
                <a:solidFill>
                  <a:schemeClr val="bg1"/>
                </a:solidFill>
              </a:rPr>
              <a:t>textures</a:t>
            </a:r>
            <a:r>
              <a:rPr lang="es-EC" sz="2400" dirty="0">
                <a:solidFill>
                  <a:schemeClr val="bg1"/>
                </a:solidFill>
              </a:rPr>
              <a:t>, </a:t>
            </a:r>
            <a:r>
              <a:rPr lang="es-EC" sz="2400" dirty="0" err="1">
                <a:solidFill>
                  <a:schemeClr val="bg1"/>
                </a:solidFill>
              </a:rPr>
              <a:t>the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intensity</a:t>
            </a:r>
            <a:r>
              <a:rPr lang="es-EC" sz="2400" dirty="0">
                <a:solidFill>
                  <a:schemeClr val="bg1"/>
                </a:solidFill>
              </a:rPr>
              <a:t> and </a:t>
            </a:r>
            <a:r>
              <a:rPr lang="es-EC" sz="2400" dirty="0" err="1">
                <a:solidFill>
                  <a:schemeClr val="bg1"/>
                </a:solidFill>
              </a:rPr>
              <a:t>shape</a:t>
            </a:r>
            <a:r>
              <a:rPr lang="es-EC" sz="2400" dirty="0">
                <a:solidFill>
                  <a:schemeClr val="bg1"/>
                </a:solidFill>
              </a:rPr>
              <a:t> diverge </a:t>
            </a:r>
            <a:r>
              <a:rPr lang="es-EC" sz="2400" dirty="0" err="1">
                <a:solidFill>
                  <a:schemeClr val="bg1"/>
                </a:solidFill>
              </a:rPr>
              <a:t>later</a:t>
            </a:r>
            <a:r>
              <a:rPr lang="es-EC" sz="2400" dirty="0">
                <a:solidFill>
                  <a:schemeClr val="bg1"/>
                </a:solidFill>
              </a:rPr>
              <a:t> and </a:t>
            </a:r>
            <a:r>
              <a:rPr lang="es-EC" sz="2400" dirty="0" err="1">
                <a:solidFill>
                  <a:schemeClr val="bg1"/>
                </a:solidFill>
              </a:rPr>
              <a:t>the</a:t>
            </a:r>
            <a:r>
              <a:rPr lang="es-EC" sz="2400" dirty="0">
                <a:solidFill>
                  <a:schemeClr val="bg1"/>
                </a:solidFill>
              </a:rPr>
              <a:t> FFT are </a:t>
            </a:r>
            <a:r>
              <a:rPr lang="es-EC" sz="2400" dirty="0" err="1">
                <a:solidFill>
                  <a:schemeClr val="bg1"/>
                </a:solidFill>
              </a:rPr>
              <a:t>unstable</a:t>
            </a:r>
            <a:r>
              <a:rPr lang="es-EC" sz="2400" dirty="0">
                <a:solidFill>
                  <a:schemeClr val="bg1"/>
                </a:solidFill>
              </a:rPr>
              <a:t>.</a:t>
            </a: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>
                <a:solidFill>
                  <a:schemeClr val="bg1"/>
                </a:solidFill>
              </a:rPr>
              <a:t>•</a:t>
            </a:r>
            <a:r>
              <a:rPr lang="en-US" sz="2400" dirty="0">
                <a:solidFill>
                  <a:schemeClr val="bg1"/>
                </a:solidFill>
              </a:rPr>
              <a:t>Texture (GLCM) features are the most discriminative (</a:t>
            </a:r>
            <a:r>
              <a:rPr lang="en-US" sz="2400" i="1" dirty="0">
                <a:solidFill>
                  <a:schemeClr val="bg1"/>
                </a:solidFill>
              </a:rPr>
              <a:t>F1=0.95</a:t>
            </a:r>
            <a:r>
              <a:rPr lang="en-US" sz="2400" dirty="0">
                <a:solidFill>
                  <a:schemeClr val="bg1"/>
                </a:solidFill>
              </a:rPr>
              <a:t>). Intensity and shape also strong (</a:t>
            </a:r>
            <a:r>
              <a:rPr lang="en-US" sz="2400" i="1" dirty="0">
                <a:solidFill>
                  <a:schemeClr val="bg1"/>
                </a:solidFill>
              </a:rPr>
              <a:t>=0.91</a:t>
            </a:r>
            <a:r>
              <a:rPr lang="en-US" sz="2400" dirty="0">
                <a:solidFill>
                  <a:schemeClr val="bg1"/>
                </a:solidFill>
              </a:rPr>
              <a:t>). FFT adds noise. Combining all features hurts performance due to redundancy and also add noisy dimensions.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 err="1">
                <a:solidFill>
                  <a:schemeClr val="bg1"/>
                </a:solidFill>
              </a:rPr>
              <a:t>Baseline</a:t>
            </a:r>
            <a:r>
              <a:rPr lang="es-EC" sz="2400" dirty="0">
                <a:solidFill>
                  <a:schemeClr val="bg1"/>
                </a:solidFill>
              </a:rPr>
              <a:t>: PCA leads </a:t>
            </a:r>
            <a:r>
              <a:rPr lang="es-EC" sz="2400" dirty="0" err="1">
                <a:solidFill>
                  <a:schemeClr val="bg1"/>
                </a:solidFill>
              </a:rPr>
              <a:t>to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genotype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clustering</a:t>
            </a:r>
            <a:r>
              <a:rPr lang="es-EC" sz="2400" dirty="0">
                <a:solidFill>
                  <a:schemeClr val="bg1"/>
                </a:solidFill>
              </a:rPr>
              <a:t>; no </a:t>
            </a:r>
            <a:r>
              <a:rPr lang="es-EC" sz="2400" dirty="0" err="1">
                <a:solidFill>
                  <a:schemeClr val="bg1"/>
                </a:solidFill>
              </a:rPr>
              <a:t>clear</a:t>
            </a:r>
            <a:r>
              <a:rPr lang="es-EC" sz="2400" dirty="0">
                <a:solidFill>
                  <a:schemeClr val="bg1"/>
                </a:solidFill>
              </a:rPr>
              <a:t> temporal </a:t>
            </a:r>
            <a:r>
              <a:rPr lang="es-EC" sz="2400" dirty="0" err="1">
                <a:solidFill>
                  <a:schemeClr val="bg1"/>
                </a:solidFill>
              </a:rPr>
              <a:t>path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yet</a:t>
            </a:r>
            <a:r>
              <a:rPr lang="es-EC" sz="2400" dirty="0">
                <a:solidFill>
                  <a:schemeClr val="bg1"/>
                </a:solidFill>
              </a:rPr>
              <a:t>.</a:t>
            </a: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 err="1">
                <a:solidFill>
                  <a:schemeClr val="bg1"/>
                </a:solidFill>
              </a:rPr>
              <a:t>Still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missign</a:t>
            </a:r>
            <a:r>
              <a:rPr lang="es-EC" sz="2400" dirty="0">
                <a:solidFill>
                  <a:schemeClr val="bg1"/>
                </a:solidFill>
              </a:rPr>
              <a:t> T-SNE – I </a:t>
            </a:r>
            <a:r>
              <a:rPr lang="es-EC" sz="2400" dirty="0" err="1">
                <a:solidFill>
                  <a:schemeClr val="bg1"/>
                </a:solidFill>
              </a:rPr>
              <a:t>dont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know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if</a:t>
            </a:r>
            <a:r>
              <a:rPr lang="es-EC" sz="2400" dirty="0">
                <a:solidFill>
                  <a:schemeClr val="bg1"/>
                </a:solidFill>
              </a:rPr>
              <a:t> i </a:t>
            </a:r>
            <a:r>
              <a:rPr lang="es-EC" sz="2400" dirty="0" err="1">
                <a:solidFill>
                  <a:schemeClr val="bg1"/>
                </a:solidFill>
              </a:rPr>
              <a:t>need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to</a:t>
            </a:r>
            <a:r>
              <a:rPr lang="es-EC" sz="2400" dirty="0">
                <a:solidFill>
                  <a:schemeClr val="bg1"/>
                </a:solidFill>
              </a:rPr>
              <a:t> compare </a:t>
            </a:r>
            <a:r>
              <a:rPr lang="es-EC" sz="2400" dirty="0" err="1">
                <a:solidFill>
                  <a:schemeClr val="bg1"/>
                </a:solidFill>
              </a:rPr>
              <a:t>between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mutants</a:t>
            </a:r>
            <a:r>
              <a:rPr lang="es-EC" sz="2400" dirty="0">
                <a:solidFill>
                  <a:schemeClr val="bg1"/>
                </a:solidFill>
              </a:rPr>
              <a:t>.</a:t>
            </a:r>
            <a:endParaRPr lang="es-EC" sz="2000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279B6F01-175F-4F07-805B-A1C490623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3363" y="130906"/>
            <a:ext cx="6929123" cy="507209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chemeClr val="bg1"/>
                </a:solidFill>
              </a:rPr>
              <a:t>Project Goal, Hypotheses and Current Status</a:t>
            </a:r>
            <a:endParaRPr lang="es-EC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352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779127-6E6C-455A-91F6-E111C134A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3091" y="740917"/>
            <a:ext cx="10400195" cy="3812849"/>
          </a:xfrm>
        </p:spPr>
        <p:txBody>
          <a:bodyPr>
            <a:normAutofit/>
          </a:bodyPr>
          <a:lstStyle/>
          <a:p>
            <a:pPr algn="l"/>
            <a:r>
              <a:rPr lang="es-EC" sz="2400" b="1" dirty="0">
                <a:solidFill>
                  <a:schemeClr val="bg1"/>
                </a:solidFill>
              </a:rPr>
              <a:t>*</a:t>
            </a:r>
            <a:r>
              <a:rPr lang="es-EC" sz="2400" dirty="0" err="1">
                <a:solidFill>
                  <a:schemeClr val="bg1"/>
                </a:solidFill>
              </a:rPr>
              <a:t>Model</a:t>
            </a:r>
            <a:r>
              <a:rPr lang="es-EC" sz="2400" dirty="0">
                <a:solidFill>
                  <a:schemeClr val="bg1"/>
                </a:solidFill>
              </a:rPr>
              <a:t> plan (</a:t>
            </a:r>
            <a:r>
              <a:rPr lang="es-EC" sz="2400" dirty="0" err="1">
                <a:solidFill>
                  <a:schemeClr val="bg1"/>
                </a:solidFill>
              </a:rPr>
              <a:t>start</a:t>
            </a:r>
            <a:r>
              <a:rPr lang="es-EC" sz="2400" dirty="0">
                <a:solidFill>
                  <a:schemeClr val="bg1"/>
                </a:solidFill>
              </a:rPr>
              <a:t> simple)</a:t>
            </a: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 err="1">
                <a:solidFill>
                  <a:schemeClr val="bg1"/>
                </a:solidFill>
              </a:rPr>
              <a:t>Autoencoder</a:t>
            </a:r>
            <a:r>
              <a:rPr lang="es-EC" sz="2400" dirty="0">
                <a:solidFill>
                  <a:schemeClr val="bg1"/>
                </a:solidFill>
              </a:rPr>
              <a:t> / VAE </a:t>
            </a:r>
            <a:r>
              <a:rPr lang="es-EC" sz="2400" dirty="0" err="1">
                <a:solidFill>
                  <a:schemeClr val="bg1"/>
                </a:solidFill>
              </a:rPr>
              <a:t>on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masked</a:t>
            </a:r>
            <a:r>
              <a:rPr lang="es-EC" sz="2400" dirty="0">
                <a:solidFill>
                  <a:schemeClr val="bg1"/>
                </a:solidFill>
              </a:rPr>
              <a:t> 128×128 </a:t>
            </a:r>
            <a:r>
              <a:rPr lang="es-EC" sz="2400" dirty="0" err="1">
                <a:solidFill>
                  <a:schemeClr val="bg1"/>
                </a:solidFill>
              </a:rPr>
              <a:t>brightfield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frames</a:t>
            </a: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 err="1">
                <a:solidFill>
                  <a:schemeClr val="bg1"/>
                </a:solidFill>
              </a:rPr>
              <a:t>Conv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Encoder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to</a:t>
            </a:r>
            <a:r>
              <a:rPr lang="es-EC" sz="2400" dirty="0">
                <a:solidFill>
                  <a:schemeClr val="bg1"/>
                </a:solidFill>
              </a:rPr>
              <a:t>  lead </a:t>
            </a:r>
            <a:r>
              <a:rPr lang="es-EC" sz="2400" dirty="0" err="1">
                <a:solidFill>
                  <a:schemeClr val="bg1"/>
                </a:solidFill>
              </a:rPr>
              <a:t>latent</a:t>
            </a:r>
            <a:r>
              <a:rPr lang="es-EC" sz="2400" dirty="0">
                <a:solidFill>
                  <a:schemeClr val="bg1"/>
                </a:solidFill>
              </a:rPr>
              <a:t> z (2–4 </a:t>
            </a:r>
            <a:r>
              <a:rPr lang="es-EC" sz="2400" dirty="0" err="1">
                <a:solidFill>
                  <a:schemeClr val="bg1"/>
                </a:solidFill>
              </a:rPr>
              <a:t>dims</a:t>
            </a:r>
            <a:r>
              <a:rPr lang="es-EC" sz="2400" dirty="0">
                <a:solidFill>
                  <a:schemeClr val="bg1"/>
                </a:solidFill>
              </a:rPr>
              <a:t>) and </a:t>
            </a:r>
            <a:r>
              <a:rPr lang="es-EC" sz="2400" dirty="0" err="1">
                <a:solidFill>
                  <a:schemeClr val="bg1"/>
                </a:solidFill>
              </a:rPr>
              <a:t>then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Conv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Decoder</a:t>
            </a:r>
            <a:br>
              <a:rPr lang="es-EC" sz="2400" dirty="0">
                <a:solidFill>
                  <a:schemeClr val="bg1"/>
                </a:solidFill>
              </a:rPr>
            </a:b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>
                <a:solidFill>
                  <a:schemeClr val="bg1"/>
                </a:solidFill>
              </a:rPr>
              <a:t>*</a:t>
            </a:r>
            <a:r>
              <a:rPr lang="es-EC" sz="2400" dirty="0" err="1">
                <a:solidFill>
                  <a:schemeClr val="bg1"/>
                </a:solidFill>
              </a:rPr>
              <a:t>Loss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functions</a:t>
            </a: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>
                <a:solidFill>
                  <a:schemeClr val="bg1"/>
                </a:solidFill>
              </a:rPr>
              <a:t>AE: </a:t>
            </a:r>
            <a:r>
              <a:rPr lang="es-EC" sz="2400" dirty="0" err="1">
                <a:solidFill>
                  <a:schemeClr val="bg1"/>
                </a:solidFill>
              </a:rPr>
              <a:t>Reconstruction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loss</a:t>
            </a:r>
            <a:r>
              <a:rPr lang="es-EC" sz="2400" dirty="0">
                <a:solidFill>
                  <a:schemeClr val="bg1"/>
                </a:solidFill>
              </a:rPr>
              <a:t> MSE + Temporal </a:t>
            </a:r>
            <a:r>
              <a:rPr lang="es-EC" sz="2400" dirty="0" err="1">
                <a:solidFill>
                  <a:schemeClr val="bg1"/>
                </a:solidFill>
              </a:rPr>
              <a:t>Smoothness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term</a:t>
            </a: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>
                <a:solidFill>
                  <a:schemeClr val="bg1"/>
                </a:solidFill>
              </a:rPr>
              <a:t>VAE: </a:t>
            </a:r>
            <a:r>
              <a:rPr lang="es-EC" sz="2400" dirty="0" err="1">
                <a:solidFill>
                  <a:schemeClr val="bg1"/>
                </a:solidFill>
              </a:rPr>
              <a:t>Reconstruction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Divergence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S" sz="2400" dirty="0">
                <a:solidFill>
                  <a:schemeClr val="bg1"/>
                </a:solidFill>
              </a:rPr>
              <a:t>+ Temporal </a:t>
            </a:r>
            <a:r>
              <a:rPr lang="es-EC" sz="2400" dirty="0" err="1">
                <a:solidFill>
                  <a:schemeClr val="bg1"/>
                </a:solidFill>
              </a:rPr>
              <a:t>Smoothness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term</a:t>
            </a:r>
            <a:br>
              <a:rPr lang="es-EC" sz="2400" dirty="0">
                <a:solidFill>
                  <a:schemeClr val="bg1"/>
                </a:solidFill>
              </a:rPr>
            </a:b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>
                <a:solidFill>
                  <a:schemeClr val="bg1"/>
                </a:solidFill>
              </a:rPr>
              <a:t>*</a:t>
            </a:r>
            <a:r>
              <a:rPr lang="es-EC" sz="2700" dirty="0">
                <a:solidFill>
                  <a:schemeClr val="bg1"/>
                </a:solidFill>
              </a:rPr>
              <a:t>Temporal </a:t>
            </a:r>
            <a:r>
              <a:rPr lang="es-EC" sz="2700" dirty="0" err="1">
                <a:solidFill>
                  <a:schemeClr val="bg1"/>
                </a:solidFill>
              </a:rPr>
              <a:t>smoothness</a:t>
            </a: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 err="1">
                <a:solidFill>
                  <a:schemeClr val="bg1"/>
                </a:solidFill>
              </a:rPr>
              <a:t>Forces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latent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to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reflect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continuous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developmental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progression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rather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than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image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artifacts</a:t>
            </a:r>
            <a:endParaRPr lang="es-EC" sz="2400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279B6F01-175F-4F07-805B-A1C490623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3091" y="273066"/>
            <a:ext cx="7818359" cy="507209"/>
          </a:xfrm>
        </p:spPr>
        <p:txBody>
          <a:bodyPr>
            <a:normAutofit/>
          </a:bodyPr>
          <a:lstStyle/>
          <a:p>
            <a:pPr algn="l"/>
            <a:r>
              <a:rPr lang="es-EC" sz="2800" b="1" dirty="0" err="1">
                <a:solidFill>
                  <a:schemeClr val="bg1"/>
                </a:solidFill>
              </a:rPr>
              <a:t>Planned</a:t>
            </a:r>
            <a:r>
              <a:rPr lang="es-EC" sz="2800" b="1" dirty="0">
                <a:solidFill>
                  <a:schemeClr val="bg1"/>
                </a:solidFill>
              </a:rPr>
              <a:t> </a:t>
            </a:r>
            <a:r>
              <a:rPr lang="es-EC" sz="2800" b="1" dirty="0" err="1">
                <a:solidFill>
                  <a:schemeClr val="bg1"/>
                </a:solidFill>
              </a:rPr>
              <a:t>Method</a:t>
            </a:r>
            <a:r>
              <a:rPr lang="es-EC" sz="2800" b="1" dirty="0">
                <a:solidFill>
                  <a:schemeClr val="bg1"/>
                </a:solidFill>
              </a:rPr>
              <a:t> (AE/VAE), </a:t>
            </a:r>
            <a:r>
              <a:rPr lang="es-EC" sz="2800" b="1" dirty="0" err="1">
                <a:solidFill>
                  <a:schemeClr val="bg1"/>
                </a:solidFill>
              </a:rPr>
              <a:t>Losses</a:t>
            </a:r>
            <a:endParaRPr lang="es-EC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239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779127-6E6C-455A-91F6-E111C134A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3091" y="777678"/>
            <a:ext cx="11045545" cy="4040859"/>
          </a:xfrm>
        </p:spPr>
        <p:txBody>
          <a:bodyPr>
            <a:normAutofit fontScale="90000"/>
          </a:bodyPr>
          <a:lstStyle/>
          <a:p>
            <a:pPr algn="l"/>
            <a:r>
              <a:rPr lang="es-EC" sz="2400" dirty="0">
                <a:solidFill>
                  <a:schemeClr val="bg1"/>
                </a:solidFill>
              </a:rPr>
              <a:t>*</a:t>
            </a:r>
            <a:r>
              <a:rPr lang="es-EC" sz="2400" dirty="0" err="1">
                <a:solidFill>
                  <a:schemeClr val="bg1"/>
                </a:solidFill>
              </a:rPr>
              <a:t>Evaluation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metrics</a:t>
            </a: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>
                <a:solidFill>
                  <a:schemeClr val="bg1"/>
                </a:solidFill>
              </a:rPr>
              <a:t>• </a:t>
            </a:r>
            <a:r>
              <a:rPr lang="es-EC" sz="2400" dirty="0" err="1">
                <a:solidFill>
                  <a:schemeClr val="bg1"/>
                </a:solidFill>
              </a:rPr>
              <a:t>genotype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separability</a:t>
            </a:r>
            <a:r>
              <a:rPr lang="es-EC" sz="2400" dirty="0">
                <a:solidFill>
                  <a:schemeClr val="bg1"/>
                </a:solidFill>
              </a:rPr>
              <a:t> (</a:t>
            </a:r>
            <a:r>
              <a:rPr lang="es-EC" sz="2400" dirty="0" err="1">
                <a:solidFill>
                  <a:schemeClr val="bg1"/>
                </a:solidFill>
              </a:rPr>
              <a:t>silhouette</a:t>
            </a:r>
            <a:r>
              <a:rPr lang="es-EC" sz="2400" dirty="0">
                <a:solidFill>
                  <a:schemeClr val="bg1"/>
                </a:solidFill>
              </a:rPr>
              <a:t>, </a:t>
            </a:r>
            <a:r>
              <a:rPr lang="es-EC" sz="2400" dirty="0" err="1">
                <a:solidFill>
                  <a:schemeClr val="bg1"/>
                </a:solidFill>
              </a:rPr>
              <a:t>kNN</a:t>
            </a:r>
            <a:r>
              <a:rPr lang="es-EC" sz="2400" dirty="0">
                <a:solidFill>
                  <a:schemeClr val="bg1"/>
                </a:solidFill>
              </a:rPr>
              <a:t> in </a:t>
            </a:r>
            <a:r>
              <a:rPr lang="es-EC" sz="2400" dirty="0" err="1">
                <a:solidFill>
                  <a:schemeClr val="bg1"/>
                </a:solidFill>
              </a:rPr>
              <a:t>latent</a:t>
            </a:r>
            <a:r>
              <a:rPr lang="es-EC" sz="2400" dirty="0">
                <a:solidFill>
                  <a:schemeClr val="bg1"/>
                </a:solidFill>
              </a:rPr>
              <a:t>)</a:t>
            </a: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>
                <a:solidFill>
                  <a:schemeClr val="bg1"/>
                </a:solidFill>
              </a:rPr>
              <a:t>• </a:t>
            </a:r>
            <a:r>
              <a:rPr lang="es-EC" sz="2400" dirty="0" err="1">
                <a:solidFill>
                  <a:schemeClr val="bg1"/>
                </a:solidFill>
              </a:rPr>
              <a:t>latent</a:t>
            </a:r>
            <a:r>
              <a:rPr lang="es-EC" sz="2400" dirty="0">
                <a:solidFill>
                  <a:schemeClr val="bg1"/>
                </a:solidFill>
              </a:rPr>
              <a:t> time </a:t>
            </a:r>
            <a:r>
              <a:rPr lang="es-EC" sz="2400" dirty="0" err="1">
                <a:solidFill>
                  <a:schemeClr val="bg1"/>
                </a:solidFill>
              </a:rPr>
              <a:t>ordering</a:t>
            </a:r>
            <a:r>
              <a:rPr lang="es-EC" sz="2400" dirty="0">
                <a:solidFill>
                  <a:schemeClr val="bg1"/>
                </a:solidFill>
              </a:rPr>
              <a:t> (Spearman </a:t>
            </a:r>
            <a:r>
              <a:rPr lang="es-EC" sz="2400" dirty="0" err="1">
                <a:solidFill>
                  <a:schemeClr val="bg1"/>
                </a:solidFill>
              </a:rPr>
              <a:t>arc-length</a:t>
            </a:r>
            <a:r>
              <a:rPr lang="es-EC" sz="2400" dirty="0">
                <a:solidFill>
                  <a:schemeClr val="bg1"/>
                </a:solidFill>
              </a:rPr>
              <a:t> vs real time)</a:t>
            </a: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>
                <a:solidFill>
                  <a:schemeClr val="bg1"/>
                </a:solidFill>
              </a:rPr>
              <a:t>• </a:t>
            </a:r>
            <a:r>
              <a:rPr lang="es-EC" sz="2400" dirty="0" err="1">
                <a:solidFill>
                  <a:schemeClr val="bg1"/>
                </a:solidFill>
              </a:rPr>
              <a:t>cross-embryo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stage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alignment</a:t>
            </a:r>
            <a:r>
              <a:rPr lang="es-EC" sz="2400" dirty="0">
                <a:solidFill>
                  <a:schemeClr val="bg1"/>
                </a:solidFill>
              </a:rPr>
              <a:t> (</a:t>
            </a:r>
            <a:r>
              <a:rPr lang="en-US" sz="2400" dirty="0">
                <a:solidFill>
                  <a:schemeClr val="bg1"/>
                </a:solidFill>
              </a:rPr>
              <a:t>Dynamic Time Warping Alignment (DTW) </a:t>
            </a:r>
            <a:r>
              <a:rPr lang="es-EC" sz="2400" dirty="0" err="1">
                <a:solidFill>
                  <a:schemeClr val="bg1"/>
                </a:solidFill>
              </a:rPr>
              <a:t>distance</a:t>
            </a:r>
            <a:r>
              <a:rPr lang="es-EC" sz="2400" dirty="0">
                <a:solidFill>
                  <a:schemeClr val="bg1"/>
                </a:solidFill>
              </a:rPr>
              <a:t>)</a:t>
            </a:r>
            <a:br>
              <a:rPr lang="es-EC" sz="2400" dirty="0">
                <a:solidFill>
                  <a:schemeClr val="bg1"/>
                </a:solidFill>
              </a:rPr>
            </a:br>
            <a:r>
              <a:rPr lang="es-EC" sz="2400" dirty="0">
                <a:solidFill>
                  <a:schemeClr val="bg1"/>
                </a:solidFill>
              </a:rPr>
              <a:t>• </a:t>
            </a:r>
            <a:r>
              <a:rPr lang="es-EC" sz="2400" dirty="0" err="1">
                <a:solidFill>
                  <a:schemeClr val="bg1"/>
                </a:solidFill>
              </a:rPr>
              <a:t>reconstruction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quality</a:t>
            </a:r>
            <a:r>
              <a:rPr lang="es-EC" sz="2400" dirty="0">
                <a:solidFill>
                  <a:schemeClr val="bg1"/>
                </a:solidFill>
              </a:rPr>
              <a:t> (MSE / </a:t>
            </a:r>
            <a:r>
              <a:rPr lang="es-EC" sz="2400" dirty="0" err="1">
                <a:solidFill>
                  <a:schemeClr val="bg1"/>
                </a:solidFill>
              </a:rPr>
              <a:t>Structural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Similarity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Index</a:t>
            </a:r>
            <a:r>
              <a:rPr lang="es-EC" sz="2400" dirty="0">
                <a:solidFill>
                  <a:schemeClr val="bg1"/>
                </a:solidFill>
              </a:rPr>
              <a:t> </a:t>
            </a:r>
            <a:r>
              <a:rPr lang="es-EC" sz="2400" dirty="0" err="1">
                <a:solidFill>
                  <a:schemeClr val="bg1"/>
                </a:solidFill>
              </a:rPr>
              <a:t>Measure</a:t>
            </a:r>
            <a:r>
              <a:rPr lang="es-EC" sz="2400" dirty="0">
                <a:solidFill>
                  <a:schemeClr val="bg1"/>
                </a:solidFill>
              </a:rPr>
              <a:t> (SSIM))</a:t>
            </a:r>
            <a:br>
              <a:rPr lang="es-EC" sz="2400" dirty="0">
                <a:solidFill>
                  <a:schemeClr val="bg1"/>
                </a:solidFill>
              </a:rPr>
            </a:br>
            <a:br>
              <a:rPr lang="es-EC" sz="2400" dirty="0"/>
            </a:br>
            <a:r>
              <a:rPr lang="es-EC" sz="2400" b="0" strike="noStrike" spc="-1" dirty="0">
                <a:solidFill>
                  <a:schemeClr val="lt1"/>
                </a:solidFill>
                <a:latin typeface="Calibri Light"/>
                <a:ea typeface="Noto Sans CJK SC"/>
              </a:rPr>
              <a:t>*</a:t>
            </a:r>
            <a:r>
              <a:rPr lang="es-EC" sz="2400" b="0" strike="noStrike" spc="-1" dirty="0" err="1">
                <a:solidFill>
                  <a:schemeClr val="lt1"/>
                </a:solidFill>
                <a:latin typeface="Calibri Light"/>
                <a:ea typeface="Noto Sans CJK SC"/>
              </a:rPr>
              <a:t>Other</a:t>
            </a:r>
            <a:r>
              <a:rPr lang="es-EC" sz="2400" b="0" strike="noStrike" spc="-1" dirty="0">
                <a:solidFill>
                  <a:schemeClr val="lt1"/>
                </a:solidFill>
                <a:latin typeface="Calibri Light"/>
                <a:ea typeface="Noto Sans CJK SC"/>
              </a:rPr>
              <a:t> </a:t>
            </a:r>
            <a:r>
              <a:rPr lang="es-EC" sz="2400" b="0" strike="noStrike" spc="-1" dirty="0" err="1">
                <a:solidFill>
                  <a:schemeClr val="lt1"/>
                </a:solidFill>
                <a:latin typeface="Calibri Light"/>
                <a:ea typeface="Noto Sans CJK SC"/>
              </a:rPr>
              <a:t>Possible</a:t>
            </a:r>
            <a:r>
              <a:rPr lang="es-EC" sz="2400" b="0" strike="noStrike" spc="-1" dirty="0">
                <a:solidFill>
                  <a:schemeClr val="lt1"/>
                </a:solidFill>
                <a:latin typeface="Calibri Light"/>
                <a:ea typeface="Noto Sans CJK SC"/>
              </a:rPr>
              <a:t> </a:t>
            </a:r>
            <a:r>
              <a:rPr lang="es-EC" sz="2400" b="0" strike="noStrike" spc="-1" dirty="0" err="1">
                <a:solidFill>
                  <a:schemeClr val="lt1"/>
                </a:solidFill>
                <a:latin typeface="Calibri Light"/>
                <a:ea typeface="Noto Sans CJK SC"/>
              </a:rPr>
              <a:t>Options</a:t>
            </a:r>
            <a:br>
              <a:rPr lang="es-EC" sz="2400" dirty="0"/>
            </a:br>
            <a:r>
              <a:rPr lang="es-EC" sz="2400" b="0" strike="noStrike" spc="-1" dirty="0">
                <a:solidFill>
                  <a:schemeClr val="lt1"/>
                </a:solidFill>
                <a:latin typeface="Calibri Light"/>
                <a:ea typeface="Noto Sans CJK SC"/>
              </a:rPr>
              <a:t>• UMAP as </a:t>
            </a:r>
            <a:r>
              <a:rPr lang="es-EC" sz="2400" b="0" strike="noStrike" spc="-1" dirty="0" err="1">
                <a:solidFill>
                  <a:schemeClr val="lt1"/>
                </a:solidFill>
                <a:latin typeface="Calibri Light"/>
                <a:ea typeface="Noto Sans CJK SC"/>
              </a:rPr>
              <a:t>latent</a:t>
            </a:r>
            <a:r>
              <a:rPr lang="es-EC" sz="2400" b="0" strike="noStrike" spc="-1" dirty="0">
                <a:solidFill>
                  <a:schemeClr val="lt1"/>
                </a:solidFill>
                <a:latin typeface="Calibri Light"/>
                <a:ea typeface="Noto Sans CJK SC"/>
              </a:rPr>
              <a:t> </a:t>
            </a:r>
            <a:r>
              <a:rPr lang="es-EC" sz="2400" b="0" strike="noStrike" spc="-1" dirty="0" err="1">
                <a:solidFill>
                  <a:schemeClr val="lt1"/>
                </a:solidFill>
                <a:latin typeface="Calibri Light"/>
                <a:ea typeface="Noto Sans CJK SC"/>
              </a:rPr>
              <a:t>embedding</a:t>
            </a:r>
            <a:br>
              <a:rPr lang="es-EC" sz="2400" dirty="0"/>
            </a:br>
            <a:r>
              <a:rPr lang="es-EC" sz="2400" b="0" strike="noStrike" spc="-1" dirty="0">
                <a:solidFill>
                  <a:schemeClr val="lt1"/>
                </a:solidFill>
                <a:latin typeface="Calibri Light"/>
                <a:ea typeface="Noto Sans CJK SC"/>
              </a:rPr>
              <a:t>• Time – </a:t>
            </a:r>
            <a:r>
              <a:rPr lang="es-EC" sz="2400" b="0" strike="noStrike" spc="-1" dirty="0" err="1">
                <a:solidFill>
                  <a:schemeClr val="lt1"/>
                </a:solidFill>
                <a:latin typeface="Calibri Light"/>
                <a:ea typeface="Noto Sans CJK SC"/>
              </a:rPr>
              <a:t>aware</a:t>
            </a:r>
            <a:r>
              <a:rPr lang="es-EC" sz="2400" b="0" strike="noStrike" spc="-1" dirty="0">
                <a:solidFill>
                  <a:schemeClr val="lt1"/>
                </a:solidFill>
                <a:latin typeface="Calibri Light"/>
                <a:ea typeface="Noto Sans CJK SC"/>
              </a:rPr>
              <a:t> </a:t>
            </a:r>
            <a:r>
              <a:rPr lang="es-EC" sz="2400" b="0" strike="noStrike" spc="-1" dirty="0" err="1">
                <a:solidFill>
                  <a:schemeClr val="lt1"/>
                </a:solidFill>
                <a:latin typeface="Calibri Light"/>
                <a:ea typeface="Noto Sans CJK SC"/>
              </a:rPr>
              <a:t>latent</a:t>
            </a:r>
            <a:r>
              <a:rPr lang="es-EC" sz="2400" b="0" strike="noStrike" spc="-1" dirty="0">
                <a:solidFill>
                  <a:schemeClr val="lt1"/>
                </a:solidFill>
                <a:latin typeface="Calibri Light"/>
                <a:ea typeface="Noto Sans CJK SC"/>
              </a:rPr>
              <a:t> </a:t>
            </a:r>
            <a:r>
              <a:rPr lang="es-EC" sz="2400" b="0" strike="noStrike" spc="-1" dirty="0" err="1">
                <a:solidFill>
                  <a:schemeClr val="lt1"/>
                </a:solidFill>
                <a:latin typeface="Calibri Light"/>
                <a:ea typeface="Noto Sans CJK SC"/>
              </a:rPr>
              <a:t>models</a:t>
            </a:r>
            <a:r>
              <a:rPr lang="es-EC" sz="2400" b="0" strike="noStrike" spc="-1" dirty="0">
                <a:solidFill>
                  <a:schemeClr val="lt1"/>
                </a:solidFill>
                <a:latin typeface="Calibri Light"/>
                <a:ea typeface="Noto Sans CJK SC"/>
              </a:rPr>
              <a:t> (temporal </a:t>
            </a:r>
            <a:r>
              <a:rPr lang="es-EC" sz="2400" b="0" strike="noStrike" spc="-1" dirty="0" err="1">
                <a:solidFill>
                  <a:schemeClr val="lt1"/>
                </a:solidFill>
                <a:latin typeface="Calibri Light"/>
                <a:ea typeface="Noto Sans CJK SC"/>
              </a:rPr>
              <a:t>VAEs</a:t>
            </a:r>
            <a:r>
              <a:rPr lang="es-EC" sz="2400" b="0" strike="noStrike" spc="-1" dirty="0">
                <a:solidFill>
                  <a:schemeClr val="lt1"/>
                </a:solidFill>
                <a:latin typeface="Calibri Light"/>
                <a:ea typeface="Noto Sans CJK SC"/>
              </a:rPr>
              <a:t>/ </a:t>
            </a:r>
            <a:r>
              <a:rPr lang="es-EC" sz="2400" b="0" strike="noStrike" spc="-1" dirty="0" err="1">
                <a:solidFill>
                  <a:schemeClr val="lt1"/>
                </a:solidFill>
                <a:latin typeface="Calibri Light"/>
                <a:ea typeface="Noto Sans CJK SC"/>
              </a:rPr>
              <a:t>Variational</a:t>
            </a:r>
            <a:r>
              <a:rPr lang="es-EC" sz="2400" b="0" strike="noStrike" spc="-1" dirty="0">
                <a:solidFill>
                  <a:schemeClr val="lt1"/>
                </a:solidFill>
                <a:latin typeface="Calibri Light"/>
                <a:ea typeface="Noto Sans CJK SC"/>
              </a:rPr>
              <a:t> RNN)</a:t>
            </a:r>
            <a:br>
              <a:rPr lang="es-EC" sz="2400" dirty="0"/>
            </a:br>
            <a:r>
              <a:rPr lang="es-EC" sz="2400" b="0" strike="noStrike" spc="-1" dirty="0">
                <a:solidFill>
                  <a:schemeClr val="lt1"/>
                </a:solidFill>
                <a:latin typeface="Calibri Light"/>
                <a:ea typeface="Noto Sans CJK SC"/>
              </a:rPr>
              <a:t>• </a:t>
            </a:r>
            <a:r>
              <a:rPr lang="es-EC" sz="2400" b="0" strike="noStrike" spc="-1" dirty="0" err="1">
                <a:solidFill>
                  <a:schemeClr val="lt1"/>
                </a:solidFill>
                <a:latin typeface="Calibri Light"/>
                <a:ea typeface="Noto Sans CJK SC"/>
              </a:rPr>
              <a:t>Diffusion</a:t>
            </a:r>
            <a:r>
              <a:rPr lang="es-EC" sz="2400" b="0" strike="noStrike" spc="-1" dirty="0">
                <a:solidFill>
                  <a:schemeClr val="lt1"/>
                </a:solidFill>
                <a:latin typeface="Calibri Light"/>
                <a:ea typeface="Noto Sans CJK SC"/>
              </a:rPr>
              <a:t> </a:t>
            </a:r>
            <a:r>
              <a:rPr lang="es-EC" sz="2400" b="0" strike="noStrike" spc="-1" dirty="0" err="1">
                <a:solidFill>
                  <a:schemeClr val="lt1"/>
                </a:solidFill>
                <a:latin typeface="Calibri Light"/>
                <a:ea typeface="Noto Sans CJK SC"/>
              </a:rPr>
              <a:t>Maps</a:t>
            </a:r>
            <a:r>
              <a:rPr lang="es-EC" sz="2400" b="0" strike="noStrike" spc="-1" dirty="0">
                <a:solidFill>
                  <a:schemeClr val="lt1"/>
                </a:solidFill>
                <a:latin typeface="Calibri Light"/>
                <a:ea typeface="Noto Sans CJK SC"/>
              </a:rPr>
              <a:t> (</a:t>
            </a:r>
            <a:r>
              <a:rPr lang="es-EC" sz="2400" b="0" strike="noStrike" spc="-1" dirty="0" err="1">
                <a:solidFill>
                  <a:schemeClr val="lt1"/>
                </a:solidFill>
                <a:latin typeface="Calibri Light"/>
                <a:ea typeface="Noto Sans CJK SC"/>
              </a:rPr>
              <a:t>nonlinear</a:t>
            </a:r>
            <a:r>
              <a:rPr lang="es-EC" sz="2400" b="0" strike="noStrike" spc="-1" dirty="0">
                <a:solidFill>
                  <a:schemeClr val="lt1"/>
                </a:solidFill>
                <a:latin typeface="Calibri Light"/>
                <a:ea typeface="Noto Sans CJK SC"/>
              </a:rPr>
              <a:t> </a:t>
            </a:r>
            <a:r>
              <a:rPr lang="es-EC" sz="2400" b="0" strike="noStrike" spc="-1" dirty="0" err="1">
                <a:solidFill>
                  <a:schemeClr val="lt1"/>
                </a:solidFill>
                <a:latin typeface="Calibri Light"/>
                <a:ea typeface="Noto Sans CJK SC"/>
              </a:rPr>
              <a:t>manifold</a:t>
            </a:r>
            <a:r>
              <a:rPr lang="es-EC" sz="2400" b="0" strike="noStrike" spc="-1" dirty="0">
                <a:solidFill>
                  <a:schemeClr val="lt1"/>
                </a:solidFill>
                <a:latin typeface="Calibri Light"/>
                <a:ea typeface="Noto Sans CJK SC"/>
              </a:rPr>
              <a:t> </a:t>
            </a:r>
            <a:r>
              <a:rPr lang="es-EC" sz="2400" b="0" strike="noStrike" spc="-1" dirty="0" err="1">
                <a:solidFill>
                  <a:schemeClr val="lt1"/>
                </a:solidFill>
                <a:latin typeface="Calibri Light"/>
                <a:ea typeface="Noto Sans CJK SC"/>
              </a:rPr>
              <a:t>learning</a:t>
            </a:r>
            <a:r>
              <a:rPr lang="es-EC" sz="2400" b="0" strike="noStrike" spc="-1" dirty="0">
                <a:solidFill>
                  <a:schemeClr val="lt1"/>
                </a:solidFill>
                <a:latin typeface="Calibri Light"/>
                <a:ea typeface="Noto Sans CJK SC"/>
              </a:rPr>
              <a:t>)</a:t>
            </a:r>
            <a:br>
              <a:rPr lang="es-EC" sz="2400" dirty="0"/>
            </a:br>
            <a:r>
              <a:rPr lang="es-EC" sz="2400" b="0" strike="noStrike" spc="-1" dirty="0">
                <a:solidFill>
                  <a:schemeClr val="lt1"/>
                </a:solidFill>
                <a:latin typeface="Calibri Light"/>
              </a:rPr>
              <a:t>• </a:t>
            </a:r>
            <a:r>
              <a:rPr lang="es-EC" sz="2400" b="0" strike="noStrike" spc="-1" dirty="0" err="1">
                <a:solidFill>
                  <a:schemeClr val="lt1"/>
                </a:solidFill>
                <a:latin typeface="Calibri Light"/>
              </a:rPr>
              <a:t>Contrastive</a:t>
            </a:r>
            <a:r>
              <a:rPr lang="es-EC" sz="2400" b="0" strike="noStrike" spc="-1" dirty="0">
                <a:solidFill>
                  <a:schemeClr val="lt1"/>
                </a:solidFill>
                <a:latin typeface="Calibri Light"/>
              </a:rPr>
              <a:t> </a:t>
            </a:r>
            <a:r>
              <a:rPr lang="es-EC" sz="2400" b="0" strike="noStrike" spc="-1" dirty="0" err="1">
                <a:solidFill>
                  <a:schemeClr val="lt1"/>
                </a:solidFill>
                <a:latin typeface="Calibri Light"/>
              </a:rPr>
              <a:t>learning</a:t>
            </a:r>
            <a:r>
              <a:rPr lang="es-EC" sz="2400" b="0" strike="noStrike" spc="-1" dirty="0">
                <a:solidFill>
                  <a:schemeClr val="lt1"/>
                </a:solidFill>
                <a:latin typeface="Calibri Light"/>
              </a:rPr>
              <a:t> </a:t>
            </a:r>
            <a:r>
              <a:rPr lang="es-EC" sz="2400" b="0" strike="noStrike" spc="-1" dirty="0" err="1">
                <a:solidFill>
                  <a:schemeClr val="lt1"/>
                </a:solidFill>
                <a:latin typeface="Calibri Light"/>
              </a:rPr>
              <a:t>encoders</a:t>
            </a:r>
            <a:br>
              <a:rPr lang="es-EC" sz="2400" dirty="0">
                <a:solidFill>
                  <a:schemeClr val="bg1"/>
                </a:solidFill>
              </a:rPr>
            </a:br>
            <a:endParaRPr lang="es-EC" sz="2400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279B6F01-175F-4F07-805B-A1C490623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3091" y="273066"/>
            <a:ext cx="7818359" cy="507209"/>
          </a:xfrm>
        </p:spPr>
        <p:txBody>
          <a:bodyPr>
            <a:normAutofit/>
          </a:bodyPr>
          <a:lstStyle/>
          <a:p>
            <a:pPr algn="l"/>
            <a:r>
              <a:rPr lang="es-EC" sz="2800" b="1" dirty="0" err="1">
                <a:solidFill>
                  <a:schemeClr val="bg1"/>
                </a:solidFill>
              </a:rPr>
              <a:t>Metrics</a:t>
            </a:r>
            <a:r>
              <a:rPr lang="es-EC" sz="2800" b="1" dirty="0">
                <a:solidFill>
                  <a:schemeClr val="bg1"/>
                </a:solidFill>
              </a:rPr>
              <a:t>, </a:t>
            </a:r>
            <a:r>
              <a:rPr lang="es-EC" sz="2800" b="1" dirty="0" err="1">
                <a:solidFill>
                  <a:schemeClr val="bg1"/>
                </a:solidFill>
              </a:rPr>
              <a:t>Other</a:t>
            </a:r>
            <a:r>
              <a:rPr lang="es-EC" sz="2800" b="1" dirty="0">
                <a:solidFill>
                  <a:schemeClr val="bg1"/>
                </a:solidFill>
              </a:rPr>
              <a:t> </a:t>
            </a:r>
            <a:r>
              <a:rPr lang="es-EC" sz="2800" b="1" dirty="0" err="1">
                <a:solidFill>
                  <a:schemeClr val="bg1"/>
                </a:solidFill>
              </a:rPr>
              <a:t>Model</a:t>
            </a:r>
            <a:r>
              <a:rPr lang="es-EC" sz="2800" b="1" dirty="0">
                <a:solidFill>
                  <a:schemeClr val="bg1"/>
                </a:solidFill>
              </a:rPr>
              <a:t> </a:t>
            </a:r>
            <a:r>
              <a:rPr lang="es-EC" sz="2800" b="1" dirty="0" err="1">
                <a:solidFill>
                  <a:schemeClr val="bg1"/>
                </a:solidFill>
              </a:rPr>
              <a:t>Options</a:t>
            </a:r>
            <a:endParaRPr lang="es-EC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9469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70</TotalTime>
  <Words>313</Words>
  <Application>Microsoft Office PowerPoint</Application>
  <PresentationFormat>Panorámica</PresentationFormat>
  <Paragraphs>8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From Images to Equations: ML models of zebrafish morphogenesis  Project 04 -  Latent Mapping of Developmental Trajectories Presentation 02</vt:lpstr>
      <vt:lpstr>*Current status • QC + descriptors: mutants diverge early in GLCM textures, the intensity and shape diverge later and the FFT are unstable. •Texture (GLCM) features are the most discriminative (F1=0.95). Intensity and shape also strong (=0.91). FFT adds noise. Combining all features hurts performance due to redundancy and also add noisy dimensions.  Baseline: PCA leads to genotype clustering; no clear temporal path yet. Still missign T-SNE – I dont know if i need to compare between mutants.</vt:lpstr>
      <vt:lpstr>*Model plan (start simple) Autoencoder / VAE on masked 128×128 brightfield frames Conv Encoder to  lead latent z (2–4 dims) and then Conv Decoder  *Loss functions AE: Reconstruction loss MSE + Temporal Smoothness term VAE: Reconstruction Divergence + Temporal Smoothness term  *Temporal smoothness Forces latent to reflect continuous developmental progression rather than image artifacts</vt:lpstr>
      <vt:lpstr>*Evaluation metrics • genotype separability (silhouette, kNN in latent) • latent time ordering (Spearman arc-length vs real time) • cross-embryo stage alignment (Dynamic Time Warping Alignment (DTW) distance) • reconstruction quality (MSE / Structural Similarity Index Measure (SSIM))  *Other Possible Options • UMAP as latent embedding • Time – aware latent models (temporal VAEs/ Variational RNN) • Diffusion Maps (nonlinear manifold learning) • Contrastive learning encoders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04 - From Images to Equations: ML models of zebrafish morphogenesis (brightfield time-lapse, 2–16 hpf)</dc:title>
  <dc:creator>PABLO NEPTALI ESCOBAR TIBAN</dc:creator>
  <cp:lastModifiedBy>PABLO NEPTALI ESCOBAR TIBAN</cp:lastModifiedBy>
  <cp:revision>5</cp:revision>
  <dcterms:created xsi:type="dcterms:W3CDTF">2025-11-05T23:25:16Z</dcterms:created>
  <dcterms:modified xsi:type="dcterms:W3CDTF">2025-11-06T02:37:17Z</dcterms:modified>
</cp:coreProperties>
</file>