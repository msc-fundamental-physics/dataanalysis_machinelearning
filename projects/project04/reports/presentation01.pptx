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8945F-1BC5-4E26-9F6E-FEC1B42C1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007387-77F0-465A-9C88-8D282256D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B1364D-087E-4FD6-9E19-D0060010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B8648-DCF0-46D8-8B11-A7925A1C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6A2E07-6953-49F5-8C53-8332DC65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6498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E71A6-821E-430F-B473-3A367393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29B459-7B8C-4EAE-869E-7D524B40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2A4BE5-BB87-415F-97CC-E482B2FFC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20F743-2201-4899-9462-7EEB5BA5C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D9B0A7-58DB-431F-A48F-3AC1B45A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9062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EB7AD-956E-4B78-8953-E8E313AE0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1943A7-EBBF-432C-AE3E-416B8DA12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130E9F-CC5C-4EBB-929F-11210268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FC78D0-E701-4594-87F1-69712B64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40FF0C-3D9A-4D0F-BDAB-E1601A01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8788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C57E0-89BB-4F4A-B2AC-0D659FB7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28F63A-E8FE-4F3B-903B-9F5AE12B8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179D08-8C5C-4B53-93AF-BA7017A0A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FE3123-2218-40DB-A25B-B4D85139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53C231-71EE-43E0-AA89-DA329364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C8F70F-EB30-4103-AE60-66012B60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8713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FC94E-8888-45AC-B48D-6695CAE0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D7E95F-9B1B-471A-A75A-912963AC5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A02F82-380F-4E28-8112-9FA4E6717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927484-97D2-4F1F-A1D0-8B13C6511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11FEB7-A7F4-4CFA-A3E8-3E2409488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4B48AE8-8AB9-400A-BE17-80E9CFA8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45C2D8F-DDDE-4F53-BA22-7E7A0E36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323BE2-C18A-4800-978F-F3678ED0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2221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FA703-507F-4298-9452-3DA8D207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C572EF-F3B1-4FEF-A19D-512230C1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81F519-BB37-461A-965B-39DA3CB6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484473-F0B7-4C1B-B736-D742EDE2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5598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6807B56-801D-48A3-9C09-76D2674BA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B051AC-B528-40B5-BDCD-4970FB22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E2E90B-EAB0-4D75-BE07-BD7292DF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7825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D961D-6FB2-4650-A0C9-886305805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491271-7EFE-48E7-8196-427E60C27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C96AFF-7A4B-4D31-B1A8-E608650FA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99CDB7-C2B4-4EE4-90E3-4C3D2245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699543-1088-43A3-BBEF-499F2400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5D62DC-ABE7-4D38-9CCB-62970CBA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3485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7F932-22EA-4C5E-9811-4729DE92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CD7479A-BAEC-4E11-A26A-63688FDA4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FFF1DB-B775-49A2-8CF8-8451577BF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85C845-60DF-4326-BF8A-D3EA1E7D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DADE1E-57E4-40F7-9A99-A344F452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883F68-FA0A-4D6F-A22C-C5066774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9165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E155F-A6EB-496B-BB28-1BB608DBF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0DBCEB-D4C7-47E8-ACF6-021B84B31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BDCC2-F772-4DD2-804A-AF3FC3A5E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5E57BA-EC95-4E13-8513-9B5F0D09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4D46D9-C813-4B4D-B2EE-3A253B6F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82580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EDCB29-AB1B-4CE2-900C-6A08A7CC8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C17B5B-9BEA-4B8B-B204-65FB5B1FC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FBAB45-F2F8-40E1-BDC1-D75A7299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FD7BB7-0DB4-47FC-BFB7-6047759E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FF4327-9DD5-49B9-A17E-201C4717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89887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33F705-0A20-48A4-AEF0-EF87AA5F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7BADE5-CDD7-4E27-8421-53436571A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C2FB17-55C3-4554-97CD-81F156DDC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D0E6A3-9910-4832-BF96-EEFBCDECD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D5E33F-2631-4FF3-942F-52DC0B6C6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863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79127-6E6C-455A-91F6-E111C134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7219188" cy="3268520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From Images to Equations: ML models of zebrafish morphogenesis</a:t>
            </a: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Project 04 - 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Latent Mapping of Developmental Trajectories</a:t>
            </a:r>
            <a:endParaRPr lang="es-EC" sz="4000" b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89ECDF-7F1E-47D2-8FC6-859FF4A54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s-ES" dirty="0">
                <a:solidFill>
                  <a:srgbClr val="FFFFFF"/>
                </a:solidFill>
              </a:rPr>
              <a:t>Pablo Escobar</a:t>
            </a:r>
            <a:endParaRPr lang="es-EC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02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79127-6E6C-455A-91F6-E111C134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41" y="638115"/>
            <a:ext cx="11153116" cy="5269844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*Prototype subset used now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2 Control · 2 Mutant A · 2 Mutant B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Preprocessed (mask → resize → normalize → align)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*</a:t>
            </a:r>
            <a:r>
              <a:rPr lang="es-EC" sz="2400" dirty="0" err="1">
                <a:solidFill>
                  <a:schemeClr val="bg1"/>
                </a:solidFill>
              </a:rPr>
              <a:t>Engineered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features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used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for</a:t>
            </a:r>
            <a:r>
              <a:rPr lang="es-EC" sz="2400" dirty="0">
                <a:solidFill>
                  <a:schemeClr val="bg1"/>
                </a:solidFill>
              </a:rPr>
              <a:t> PCA and time series (25 total)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A) </a:t>
            </a:r>
            <a:r>
              <a:rPr lang="es-EC" sz="2400" dirty="0" err="1">
                <a:solidFill>
                  <a:schemeClr val="bg1"/>
                </a:solidFill>
              </a:rPr>
              <a:t>Intensity</a:t>
            </a:r>
            <a:r>
              <a:rPr lang="es-EC" sz="2400" dirty="0">
                <a:solidFill>
                  <a:schemeClr val="bg1"/>
                </a:solidFill>
              </a:rPr>
              <a:t> (7 - </a:t>
            </a:r>
            <a:r>
              <a:rPr lang="es-EC" sz="2400" dirty="0" err="1">
                <a:solidFill>
                  <a:schemeClr val="bg1"/>
                </a:solidFill>
              </a:rPr>
              <a:t>from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masked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pixels</a:t>
            </a:r>
            <a:r>
              <a:rPr lang="es-EC" sz="2400" dirty="0">
                <a:solidFill>
                  <a:schemeClr val="bg1"/>
                </a:solidFill>
              </a:rPr>
              <a:t>): </a:t>
            </a:r>
            <a:r>
              <a:rPr lang="es-EC" sz="2400" dirty="0" err="1">
                <a:solidFill>
                  <a:schemeClr val="bg1"/>
                </a:solidFill>
              </a:rPr>
              <a:t>i_min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i_max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i_mean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i_std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i_skew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i_kurt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area_mask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B) </a:t>
            </a:r>
            <a:r>
              <a:rPr lang="es-EC" sz="2400" dirty="0" err="1">
                <a:solidFill>
                  <a:schemeClr val="bg1"/>
                </a:solidFill>
              </a:rPr>
              <a:t>Shape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based</a:t>
            </a:r>
            <a:r>
              <a:rPr lang="es-EC" sz="2400" dirty="0">
                <a:solidFill>
                  <a:schemeClr val="bg1"/>
                </a:solidFill>
              </a:rPr>
              <a:t> (9): </a:t>
            </a:r>
            <a:r>
              <a:rPr lang="es-EC" sz="2400" dirty="0" err="1">
                <a:solidFill>
                  <a:schemeClr val="bg1"/>
                </a:solidFill>
              </a:rPr>
              <a:t>area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perimeter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eccentricity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solidity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extent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major_axis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minor_axis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aspect_ratio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compactness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C) </a:t>
            </a:r>
            <a:r>
              <a:rPr lang="es-EC" sz="2400" dirty="0" err="1">
                <a:solidFill>
                  <a:schemeClr val="bg1"/>
                </a:solidFill>
              </a:rPr>
              <a:t>Texture</a:t>
            </a:r>
            <a:r>
              <a:rPr lang="es-EC" sz="2400" dirty="0">
                <a:solidFill>
                  <a:schemeClr val="bg1"/>
                </a:solidFill>
              </a:rPr>
              <a:t>  </a:t>
            </a:r>
            <a:r>
              <a:rPr lang="es-EC" sz="2400" dirty="0" err="1">
                <a:solidFill>
                  <a:schemeClr val="bg1"/>
                </a:solidFill>
              </a:rPr>
              <a:t>based</a:t>
            </a:r>
            <a:r>
              <a:rPr lang="es-EC" sz="2400" dirty="0">
                <a:solidFill>
                  <a:schemeClr val="bg1"/>
                </a:solidFill>
              </a:rPr>
              <a:t> (6 - gray-</a:t>
            </a:r>
            <a:r>
              <a:rPr lang="es-EC" sz="2400" dirty="0" err="1">
                <a:solidFill>
                  <a:schemeClr val="bg1"/>
                </a:solidFill>
              </a:rPr>
              <a:t>level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co-occurrence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matrix</a:t>
            </a:r>
            <a:r>
              <a:rPr lang="es-EC" sz="2400" dirty="0">
                <a:solidFill>
                  <a:schemeClr val="bg1"/>
                </a:solidFill>
              </a:rPr>
              <a:t> (GLCM)): </a:t>
            </a:r>
            <a:r>
              <a:rPr lang="es-EC" sz="2400" dirty="0" err="1">
                <a:solidFill>
                  <a:schemeClr val="bg1"/>
                </a:solidFill>
              </a:rPr>
              <a:t>contrast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corr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homog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energy</a:t>
            </a:r>
            <a:r>
              <a:rPr lang="es-EC" sz="2400" dirty="0">
                <a:solidFill>
                  <a:schemeClr val="bg1"/>
                </a:solidFill>
              </a:rPr>
              <a:t>, ASM, </a:t>
            </a:r>
            <a:r>
              <a:rPr lang="es-EC" sz="2400" dirty="0" err="1">
                <a:solidFill>
                  <a:schemeClr val="bg1"/>
                </a:solidFill>
              </a:rPr>
              <a:t>entropy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D) </a:t>
            </a:r>
            <a:r>
              <a:rPr lang="es-EC" sz="2400" dirty="0" err="1">
                <a:solidFill>
                  <a:schemeClr val="bg1"/>
                </a:solidFill>
              </a:rPr>
              <a:t>Frequency</a:t>
            </a:r>
            <a:r>
              <a:rPr lang="es-EC" sz="2400" dirty="0">
                <a:solidFill>
                  <a:schemeClr val="bg1"/>
                </a:solidFill>
              </a:rPr>
              <a:t> (3 - FFT </a:t>
            </a:r>
            <a:r>
              <a:rPr lang="es-EC" sz="2400" dirty="0" err="1">
                <a:solidFill>
                  <a:schemeClr val="bg1"/>
                </a:solidFill>
              </a:rPr>
              <a:t>spectral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bands</a:t>
            </a:r>
            <a:r>
              <a:rPr lang="es-EC" sz="2400" dirty="0">
                <a:solidFill>
                  <a:schemeClr val="bg1"/>
                </a:solidFill>
              </a:rPr>
              <a:t>): </a:t>
            </a:r>
            <a:r>
              <a:rPr lang="es-EC" sz="2400" dirty="0" err="1">
                <a:solidFill>
                  <a:schemeClr val="bg1"/>
                </a:solidFill>
              </a:rPr>
              <a:t>low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mid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high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bands</a:t>
            </a:r>
            <a:br>
              <a:rPr lang="es-EC" sz="2400" dirty="0">
                <a:solidFill>
                  <a:schemeClr val="bg1"/>
                </a:solidFill>
              </a:rPr>
            </a:b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*</a:t>
            </a:r>
            <a:r>
              <a:rPr lang="en-US" sz="2400" dirty="0">
                <a:solidFill>
                  <a:schemeClr val="bg1"/>
                </a:solidFill>
              </a:rPr>
              <a:t> Temporal progression not yet visible as continuous trajectory.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PCA on these 25 descriptors give a clear genotype separation, strongest using GLCM textures.</a:t>
            </a:r>
            <a:endParaRPr lang="es-EC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5E8BA08E-8512-4548-9356-312638521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363" y="130906"/>
            <a:ext cx="6929123" cy="50720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</a:rPr>
              <a:t>Subset used, features used, notes</a:t>
            </a:r>
            <a:endParaRPr lang="es-EC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46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79127-6E6C-455A-91F6-E111C134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362" y="1146180"/>
            <a:ext cx="11025273" cy="5269844"/>
          </a:xfrm>
        </p:spPr>
        <p:txBody>
          <a:bodyPr>
            <a:normAutofit fontScale="90000"/>
          </a:bodyPr>
          <a:lstStyle/>
          <a:p>
            <a:pPr algn="l"/>
            <a:r>
              <a:rPr lang="es-EC" sz="2700" dirty="0">
                <a:solidFill>
                  <a:schemeClr val="bg1"/>
                </a:solidFill>
              </a:rPr>
              <a:t>*</a:t>
            </a:r>
            <a:r>
              <a:rPr lang="es-EC" sz="2700" dirty="0" err="1">
                <a:solidFill>
                  <a:schemeClr val="bg1"/>
                </a:solidFill>
              </a:rPr>
              <a:t>Goal</a:t>
            </a: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 err="1">
                <a:solidFill>
                  <a:schemeClr val="bg1"/>
                </a:solidFill>
              </a:rPr>
              <a:t>Learn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low</a:t>
            </a:r>
            <a:r>
              <a:rPr lang="es-EC" sz="2700" dirty="0">
                <a:solidFill>
                  <a:schemeClr val="bg1"/>
                </a:solidFill>
              </a:rPr>
              <a:t>-dimensional </a:t>
            </a:r>
            <a:r>
              <a:rPr lang="es-EC" sz="2700" dirty="0" err="1">
                <a:solidFill>
                  <a:schemeClr val="bg1"/>
                </a:solidFill>
              </a:rPr>
              <a:t>latents</a:t>
            </a:r>
            <a:r>
              <a:rPr lang="es-EC" sz="2700" dirty="0">
                <a:solidFill>
                  <a:schemeClr val="bg1"/>
                </a:solidFill>
              </a:rPr>
              <a:t> (2–4D) </a:t>
            </a:r>
            <a:r>
              <a:rPr lang="es-EC" sz="2700" dirty="0" err="1">
                <a:solidFill>
                  <a:schemeClr val="bg1"/>
                </a:solidFill>
              </a:rPr>
              <a:t>that</a:t>
            </a:r>
            <a:r>
              <a:rPr lang="es-EC" sz="2700" dirty="0">
                <a:solidFill>
                  <a:schemeClr val="bg1"/>
                </a:solidFill>
              </a:rPr>
              <a:t> (i) </a:t>
            </a:r>
            <a:r>
              <a:rPr lang="es-EC" sz="2700" dirty="0" err="1">
                <a:solidFill>
                  <a:schemeClr val="bg1"/>
                </a:solidFill>
              </a:rPr>
              <a:t>order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biological</a:t>
            </a:r>
            <a:r>
              <a:rPr lang="es-EC" sz="2700" dirty="0">
                <a:solidFill>
                  <a:schemeClr val="bg1"/>
                </a:solidFill>
              </a:rPr>
              <a:t> time and (</a:t>
            </a:r>
            <a:r>
              <a:rPr lang="es-EC" sz="2700" dirty="0" err="1">
                <a:solidFill>
                  <a:schemeClr val="bg1"/>
                </a:solidFill>
              </a:rPr>
              <a:t>ii</a:t>
            </a:r>
            <a:r>
              <a:rPr lang="es-EC" sz="2700" dirty="0">
                <a:solidFill>
                  <a:schemeClr val="bg1"/>
                </a:solidFill>
              </a:rPr>
              <a:t>) </a:t>
            </a:r>
            <a:r>
              <a:rPr lang="es-EC" sz="2700" dirty="0" err="1">
                <a:solidFill>
                  <a:schemeClr val="bg1"/>
                </a:solidFill>
              </a:rPr>
              <a:t>separate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genotypes</a:t>
            </a:r>
            <a:r>
              <a:rPr lang="es-EC" sz="2700" dirty="0">
                <a:solidFill>
                  <a:schemeClr val="bg1"/>
                </a:solidFill>
              </a:rPr>
              <a:t>, </a:t>
            </a:r>
            <a:r>
              <a:rPr lang="es-EC" sz="2700" dirty="0" err="1">
                <a:solidFill>
                  <a:schemeClr val="bg1"/>
                </a:solidFill>
              </a:rPr>
              <a:t>enabling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stage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alignment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across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embryos</a:t>
            </a:r>
            <a:r>
              <a:rPr lang="es-EC" sz="2700" dirty="0">
                <a:solidFill>
                  <a:schemeClr val="bg1"/>
                </a:solidFill>
              </a:rPr>
              <a:t>.</a:t>
            </a:r>
            <a:br>
              <a:rPr lang="es-EC" sz="2700" dirty="0">
                <a:solidFill>
                  <a:schemeClr val="bg1"/>
                </a:solidFill>
              </a:rPr>
            </a:b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>
                <a:solidFill>
                  <a:schemeClr val="bg1"/>
                </a:solidFill>
              </a:rPr>
              <a:t>*</a:t>
            </a:r>
            <a:r>
              <a:rPr lang="es-EC" sz="2700" dirty="0" err="1">
                <a:solidFill>
                  <a:schemeClr val="bg1"/>
                </a:solidFill>
              </a:rPr>
              <a:t>Hypotheses</a:t>
            </a: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 err="1">
                <a:solidFill>
                  <a:schemeClr val="bg1"/>
                </a:solidFill>
              </a:rPr>
              <a:t>Latent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trajectories</a:t>
            </a:r>
            <a:r>
              <a:rPr lang="es-EC" sz="2700" dirty="0">
                <a:solidFill>
                  <a:schemeClr val="bg1"/>
                </a:solidFill>
              </a:rPr>
              <a:t> are </a:t>
            </a:r>
            <a:r>
              <a:rPr lang="es-EC" sz="2700" dirty="0" err="1">
                <a:solidFill>
                  <a:schemeClr val="bg1"/>
                </a:solidFill>
              </a:rPr>
              <a:t>smooth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over</a:t>
            </a:r>
            <a:r>
              <a:rPr lang="es-EC" sz="2700" dirty="0">
                <a:solidFill>
                  <a:schemeClr val="bg1"/>
                </a:solidFill>
              </a:rPr>
              <a:t> time (blástula </a:t>
            </a:r>
            <a:r>
              <a:rPr lang="es-EC" sz="2700" dirty="0" err="1">
                <a:solidFill>
                  <a:schemeClr val="bg1"/>
                </a:solidFill>
              </a:rPr>
              <a:t>to</a:t>
            </a:r>
            <a:r>
              <a:rPr lang="es-EC" sz="2700" dirty="0">
                <a:solidFill>
                  <a:schemeClr val="bg1"/>
                </a:solidFill>
              </a:rPr>
              <a:t> gástrula and so </a:t>
            </a:r>
            <a:r>
              <a:rPr lang="es-EC" sz="2700" dirty="0" err="1">
                <a:solidFill>
                  <a:schemeClr val="bg1"/>
                </a:solidFill>
              </a:rPr>
              <a:t>on</a:t>
            </a:r>
            <a:r>
              <a:rPr lang="es-EC" sz="2700" dirty="0">
                <a:solidFill>
                  <a:schemeClr val="bg1"/>
                </a:solidFill>
              </a:rPr>
              <a:t>).</a:t>
            </a: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 err="1">
                <a:solidFill>
                  <a:schemeClr val="bg1"/>
                </a:solidFill>
              </a:rPr>
              <a:t>Mutants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occupy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distinct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latent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spaces</a:t>
            </a:r>
            <a:r>
              <a:rPr lang="es-EC" sz="2700" dirty="0">
                <a:solidFill>
                  <a:schemeClr val="bg1"/>
                </a:solidFill>
              </a:rPr>
              <a:t> vs </a:t>
            </a:r>
            <a:r>
              <a:rPr lang="es-EC" sz="2700" dirty="0" err="1">
                <a:solidFill>
                  <a:schemeClr val="bg1"/>
                </a:solidFill>
              </a:rPr>
              <a:t>controls</a:t>
            </a:r>
            <a:r>
              <a:rPr lang="es-EC" sz="2700" dirty="0">
                <a:solidFill>
                  <a:schemeClr val="bg1"/>
                </a:solidFill>
              </a:rPr>
              <a:t>.</a:t>
            </a: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 err="1">
                <a:solidFill>
                  <a:schemeClr val="bg1"/>
                </a:solidFill>
              </a:rPr>
              <a:t>Latent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distances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correlate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with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morphological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descriptors</a:t>
            </a:r>
            <a:r>
              <a:rPr lang="es-EC" sz="2700" dirty="0">
                <a:solidFill>
                  <a:schemeClr val="bg1"/>
                </a:solidFill>
              </a:rPr>
              <a:t> (</a:t>
            </a:r>
            <a:r>
              <a:rPr lang="es-EC" sz="2700" dirty="0" err="1">
                <a:solidFill>
                  <a:schemeClr val="bg1"/>
                </a:solidFill>
              </a:rPr>
              <a:t>area</a:t>
            </a:r>
            <a:r>
              <a:rPr lang="es-EC" sz="2700" dirty="0">
                <a:solidFill>
                  <a:schemeClr val="bg1"/>
                </a:solidFill>
              </a:rPr>
              <a:t>, </a:t>
            </a:r>
            <a:r>
              <a:rPr lang="es-EC" sz="2700" dirty="0" err="1">
                <a:solidFill>
                  <a:schemeClr val="bg1"/>
                </a:solidFill>
              </a:rPr>
              <a:t>aspect</a:t>
            </a:r>
            <a:r>
              <a:rPr lang="es-EC" sz="2700" dirty="0">
                <a:solidFill>
                  <a:schemeClr val="bg1"/>
                </a:solidFill>
              </a:rPr>
              <a:t> ratio, </a:t>
            </a:r>
            <a:r>
              <a:rPr lang="es-EC" sz="2700" dirty="0" err="1">
                <a:solidFill>
                  <a:schemeClr val="bg1"/>
                </a:solidFill>
              </a:rPr>
              <a:t>texture</a:t>
            </a:r>
            <a:r>
              <a:rPr lang="es-EC" sz="2700" dirty="0">
                <a:solidFill>
                  <a:schemeClr val="bg1"/>
                </a:solidFill>
              </a:rPr>
              <a:t>).</a:t>
            </a:r>
            <a:br>
              <a:rPr lang="es-EC" sz="2700" dirty="0">
                <a:solidFill>
                  <a:schemeClr val="bg1"/>
                </a:solidFill>
              </a:rPr>
            </a:b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>
                <a:solidFill>
                  <a:schemeClr val="bg1"/>
                </a:solidFill>
              </a:rPr>
              <a:t>*</a:t>
            </a:r>
            <a:r>
              <a:rPr lang="es-EC" sz="2700" dirty="0" err="1">
                <a:solidFill>
                  <a:schemeClr val="bg1"/>
                </a:solidFill>
              </a:rPr>
              <a:t>Current</a:t>
            </a:r>
            <a:r>
              <a:rPr lang="es-EC" sz="2700" dirty="0">
                <a:solidFill>
                  <a:schemeClr val="bg1"/>
                </a:solidFill>
              </a:rPr>
              <a:t> status</a:t>
            </a: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>
                <a:solidFill>
                  <a:schemeClr val="bg1"/>
                </a:solidFill>
              </a:rPr>
              <a:t>• QC + </a:t>
            </a:r>
            <a:r>
              <a:rPr lang="es-EC" sz="2700" dirty="0" err="1">
                <a:solidFill>
                  <a:schemeClr val="bg1"/>
                </a:solidFill>
              </a:rPr>
              <a:t>descriptors</a:t>
            </a:r>
            <a:r>
              <a:rPr lang="es-EC" sz="2700" dirty="0">
                <a:solidFill>
                  <a:schemeClr val="bg1"/>
                </a:solidFill>
              </a:rPr>
              <a:t>: </a:t>
            </a:r>
            <a:r>
              <a:rPr lang="es-EC" sz="2700" dirty="0" err="1">
                <a:solidFill>
                  <a:schemeClr val="bg1"/>
                </a:solidFill>
              </a:rPr>
              <a:t>mutants</a:t>
            </a:r>
            <a:r>
              <a:rPr lang="es-EC" sz="2700" dirty="0">
                <a:solidFill>
                  <a:schemeClr val="bg1"/>
                </a:solidFill>
              </a:rPr>
              <a:t> diverge </a:t>
            </a:r>
            <a:r>
              <a:rPr lang="es-EC" sz="2700" dirty="0" err="1">
                <a:solidFill>
                  <a:schemeClr val="bg1"/>
                </a:solidFill>
              </a:rPr>
              <a:t>early</a:t>
            </a:r>
            <a:r>
              <a:rPr lang="es-EC" sz="2700" dirty="0">
                <a:solidFill>
                  <a:schemeClr val="bg1"/>
                </a:solidFill>
              </a:rPr>
              <a:t> in GLCM </a:t>
            </a:r>
            <a:r>
              <a:rPr lang="es-EC" sz="2700" dirty="0" err="1">
                <a:solidFill>
                  <a:schemeClr val="bg1"/>
                </a:solidFill>
              </a:rPr>
              <a:t>textures</a:t>
            </a:r>
            <a:r>
              <a:rPr lang="es-EC" sz="2700" dirty="0">
                <a:solidFill>
                  <a:schemeClr val="bg1"/>
                </a:solidFill>
              </a:rPr>
              <a:t>, </a:t>
            </a:r>
            <a:r>
              <a:rPr lang="es-EC" sz="2700" dirty="0" err="1">
                <a:solidFill>
                  <a:schemeClr val="bg1"/>
                </a:solidFill>
              </a:rPr>
              <a:t>the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intensity</a:t>
            </a:r>
            <a:r>
              <a:rPr lang="es-EC" sz="2700" dirty="0">
                <a:solidFill>
                  <a:schemeClr val="bg1"/>
                </a:solidFill>
              </a:rPr>
              <a:t> and </a:t>
            </a:r>
            <a:r>
              <a:rPr lang="es-EC" sz="2700" dirty="0" err="1">
                <a:solidFill>
                  <a:schemeClr val="bg1"/>
                </a:solidFill>
              </a:rPr>
              <a:t>shape</a:t>
            </a:r>
            <a:r>
              <a:rPr lang="es-EC" sz="2700" dirty="0">
                <a:solidFill>
                  <a:schemeClr val="bg1"/>
                </a:solidFill>
              </a:rPr>
              <a:t> diverge </a:t>
            </a:r>
            <a:r>
              <a:rPr lang="es-EC" sz="2700" dirty="0" err="1">
                <a:solidFill>
                  <a:schemeClr val="bg1"/>
                </a:solidFill>
              </a:rPr>
              <a:t>later</a:t>
            </a:r>
            <a:r>
              <a:rPr lang="es-EC" sz="2700" dirty="0">
                <a:solidFill>
                  <a:schemeClr val="bg1"/>
                </a:solidFill>
              </a:rPr>
              <a:t> and </a:t>
            </a:r>
            <a:r>
              <a:rPr lang="es-EC" sz="2700" dirty="0" err="1">
                <a:solidFill>
                  <a:schemeClr val="bg1"/>
                </a:solidFill>
              </a:rPr>
              <a:t>the</a:t>
            </a:r>
            <a:r>
              <a:rPr lang="es-EC" sz="2700" dirty="0">
                <a:solidFill>
                  <a:schemeClr val="bg1"/>
                </a:solidFill>
              </a:rPr>
              <a:t> FFT are </a:t>
            </a:r>
            <a:r>
              <a:rPr lang="es-EC" sz="2700" dirty="0" err="1">
                <a:solidFill>
                  <a:schemeClr val="bg1"/>
                </a:solidFill>
              </a:rPr>
              <a:t>unstable</a:t>
            </a:r>
            <a:r>
              <a:rPr lang="es-EC" sz="2700" dirty="0">
                <a:solidFill>
                  <a:schemeClr val="bg1"/>
                </a:solidFill>
              </a:rPr>
              <a:t>.</a:t>
            </a: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>
                <a:solidFill>
                  <a:schemeClr val="bg1"/>
                </a:solidFill>
              </a:rPr>
              <a:t>•</a:t>
            </a:r>
            <a:r>
              <a:rPr lang="en-US" sz="2700" dirty="0">
                <a:solidFill>
                  <a:schemeClr val="bg1"/>
                </a:solidFill>
              </a:rPr>
              <a:t>Texture (GLCM) features are the most discriminative (</a:t>
            </a:r>
            <a:r>
              <a:rPr lang="en-US" sz="2700" i="1" dirty="0">
                <a:solidFill>
                  <a:schemeClr val="bg1"/>
                </a:solidFill>
              </a:rPr>
              <a:t>F1=0.95</a:t>
            </a:r>
            <a:r>
              <a:rPr lang="en-US" sz="2700" dirty="0">
                <a:solidFill>
                  <a:schemeClr val="bg1"/>
                </a:solidFill>
              </a:rPr>
              <a:t>). Intensity and shape also strong (</a:t>
            </a:r>
            <a:r>
              <a:rPr lang="en-US" sz="2700" i="1" dirty="0">
                <a:solidFill>
                  <a:schemeClr val="bg1"/>
                </a:solidFill>
              </a:rPr>
              <a:t>=0.91</a:t>
            </a:r>
            <a:r>
              <a:rPr lang="en-US" sz="2700" dirty="0">
                <a:solidFill>
                  <a:schemeClr val="bg1"/>
                </a:solidFill>
              </a:rPr>
              <a:t>). FFT adds noise. Combining all features hurts performance due to redundancy and also add noisy dimensions.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 err="1">
                <a:solidFill>
                  <a:schemeClr val="bg1"/>
                </a:solidFill>
              </a:rPr>
              <a:t>Baseline</a:t>
            </a:r>
            <a:r>
              <a:rPr lang="es-EC" sz="2700" dirty="0">
                <a:solidFill>
                  <a:schemeClr val="bg1"/>
                </a:solidFill>
              </a:rPr>
              <a:t>: PCA leads </a:t>
            </a:r>
            <a:r>
              <a:rPr lang="es-EC" sz="2700" dirty="0" err="1">
                <a:solidFill>
                  <a:schemeClr val="bg1"/>
                </a:solidFill>
              </a:rPr>
              <a:t>to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genotype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clustering</a:t>
            </a:r>
            <a:r>
              <a:rPr lang="es-EC" sz="2700" dirty="0">
                <a:solidFill>
                  <a:schemeClr val="bg1"/>
                </a:solidFill>
              </a:rPr>
              <a:t>; no </a:t>
            </a:r>
            <a:r>
              <a:rPr lang="es-EC" sz="2700" dirty="0" err="1">
                <a:solidFill>
                  <a:schemeClr val="bg1"/>
                </a:solidFill>
              </a:rPr>
              <a:t>clear</a:t>
            </a:r>
            <a:r>
              <a:rPr lang="es-EC" sz="2700" dirty="0">
                <a:solidFill>
                  <a:schemeClr val="bg1"/>
                </a:solidFill>
              </a:rPr>
              <a:t> temporal </a:t>
            </a:r>
            <a:r>
              <a:rPr lang="es-EC" sz="2700" dirty="0" err="1">
                <a:solidFill>
                  <a:schemeClr val="bg1"/>
                </a:solidFill>
              </a:rPr>
              <a:t>path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yet</a:t>
            </a:r>
            <a:r>
              <a:rPr lang="es-EC" sz="2700" dirty="0">
                <a:solidFill>
                  <a:schemeClr val="bg1"/>
                </a:solidFill>
              </a:rPr>
              <a:t>.</a:t>
            </a:r>
            <a:br>
              <a:rPr lang="es-EC" sz="2700" dirty="0">
                <a:solidFill>
                  <a:schemeClr val="bg1"/>
                </a:solidFill>
              </a:rPr>
            </a:br>
            <a:r>
              <a:rPr lang="es-EC" sz="2700" dirty="0" err="1">
                <a:solidFill>
                  <a:schemeClr val="bg1"/>
                </a:solidFill>
              </a:rPr>
              <a:t>Still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missign</a:t>
            </a:r>
            <a:r>
              <a:rPr lang="es-EC" sz="2700" dirty="0">
                <a:solidFill>
                  <a:schemeClr val="bg1"/>
                </a:solidFill>
              </a:rPr>
              <a:t> T-SNE – I </a:t>
            </a:r>
            <a:r>
              <a:rPr lang="es-EC" sz="2700" dirty="0" err="1">
                <a:solidFill>
                  <a:schemeClr val="bg1"/>
                </a:solidFill>
              </a:rPr>
              <a:t>dont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know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if</a:t>
            </a:r>
            <a:r>
              <a:rPr lang="es-EC" sz="2700" dirty="0">
                <a:solidFill>
                  <a:schemeClr val="bg1"/>
                </a:solidFill>
              </a:rPr>
              <a:t> i </a:t>
            </a:r>
            <a:r>
              <a:rPr lang="es-EC" sz="2700" dirty="0" err="1">
                <a:solidFill>
                  <a:schemeClr val="bg1"/>
                </a:solidFill>
              </a:rPr>
              <a:t>need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to</a:t>
            </a:r>
            <a:r>
              <a:rPr lang="es-EC" sz="2700" dirty="0">
                <a:solidFill>
                  <a:schemeClr val="bg1"/>
                </a:solidFill>
              </a:rPr>
              <a:t> compare </a:t>
            </a:r>
            <a:r>
              <a:rPr lang="es-EC" sz="2700" dirty="0" err="1">
                <a:solidFill>
                  <a:schemeClr val="bg1"/>
                </a:solidFill>
              </a:rPr>
              <a:t>between</a:t>
            </a:r>
            <a:r>
              <a:rPr lang="es-EC" sz="2700" dirty="0">
                <a:solidFill>
                  <a:schemeClr val="bg1"/>
                </a:solidFill>
              </a:rPr>
              <a:t> </a:t>
            </a:r>
            <a:r>
              <a:rPr lang="es-EC" sz="2700" dirty="0" err="1">
                <a:solidFill>
                  <a:schemeClr val="bg1"/>
                </a:solidFill>
              </a:rPr>
              <a:t>mutants</a:t>
            </a:r>
            <a:r>
              <a:rPr lang="es-EC" sz="2700">
                <a:solidFill>
                  <a:schemeClr val="bg1"/>
                </a:solidFill>
              </a:rPr>
              <a:t>.</a:t>
            </a:r>
            <a:endParaRPr lang="es-EC" sz="24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79B6F01-175F-4F07-805B-A1C490623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363" y="130906"/>
            <a:ext cx="6929123" cy="50720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</a:rPr>
              <a:t>Project Goal, Hypotheses and Current Status</a:t>
            </a:r>
            <a:endParaRPr lang="es-EC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352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79127-6E6C-455A-91F6-E111C134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363" y="1061485"/>
            <a:ext cx="10400195" cy="5269844"/>
          </a:xfrm>
        </p:spPr>
        <p:txBody>
          <a:bodyPr>
            <a:normAutofit fontScale="90000"/>
          </a:bodyPr>
          <a:lstStyle/>
          <a:p>
            <a:pPr algn="l"/>
            <a:r>
              <a:rPr lang="es-EC" sz="2400" b="1" dirty="0">
                <a:solidFill>
                  <a:schemeClr val="bg1"/>
                </a:solidFill>
              </a:rPr>
              <a:t>*</a:t>
            </a:r>
            <a:r>
              <a:rPr lang="es-EC" sz="2400" dirty="0" err="1">
                <a:solidFill>
                  <a:schemeClr val="bg1"/>
                </a:solidFill>
              </a:rPr>
              <a:t>Model</a:t>
            </a:r>
            <a:r>
              <a:rPr lang="es-EC" sz="2400" dirty="0">
                <a:solidFill>
                  <a:schemeClr val="bg1"/>
                </a:solidFill>
              </a:rPr>
              <a:t> plan (</a:t>
            </a:r>
            <a:r>
              <a:rPr lang="es-EC" sz="2400" dirty="0" err="1">
                <a:solidFill>
                  <a:schemeClr val="bg1"/>
                </a:solidFill>
              </a:rPr>
              <a:t>start</a:t>
            </a:r>
            <a:r>
              <a:rPr lang="es-EC" sz="2400" dirty="0">
                <a:solidFill>
                  <a:schemeClr val="bg1"/>
                </a:solidFill>
              </a:rPr>
              <a:t> simple)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 err="1">
                <a:solidFill>
                  <a:schemeClr val="bg1"/>
                </a:solidFill>
              </a:rPr>
              <a:t>Autoencoder</a:t>
            </a:r>
            <a:r>
              <a:rPr lang="es-EC" sz="2400" dirty="0">
                <a:solidFill>
                  <a:schemeClr val="bg1"/>
                </a:solidFill>
              </a:rPr>
              <a:t> / VAE </a:t>
            </a:r>
            <a:r>
              <a:rPr lang="es-EC" sz="2400" dirty="0" err="1">
                <a:solidFill>
                  <a:schemeClr val="bg1"/>
                </a:solidFill>
              </a:rPr>
              <a:t>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masked</a:t>
            </a:r>
            <a:r>
              <a:rPr lang="es-EC" sz="2400" dirty="0">
                <a:solidFill>
                  <a:schemeClr val="bg1"/>
                </a:solidFill>
              </a:rPr>
              <a:t> 128×128 </a:t>
            </a:r>
            <a:r>
              <a:rPr lang="es-EC" sz="2400" dirty="0" err="1">
                <a:solidFill>
                  <a:schemeClr val="bg1"/>
                </a:solidFill>
              </a:rPr>
              <a:t>brightfield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frames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 err="1">
                <a:solidFill>
                  <a:schemeClr val="bg1"/>
                </a:solidFill>
              </a:rPr>
              <a:t>Conv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Encoder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to</a:t>
            </a:r>
            <a:r>
              <a:rPr lang="es-EC" sz="2400" dirty="0">
                <a:solidFill>
                  <a:schemeClr val="bg1"/>
                </a:solidFill>
              </a:rPr>
              <a:t>  lead </a:t>
            </a:r>
            <a:r>
              <a:rPr lang="es-EC" sz="2400" dirty="0" err="1">
                <a:solidFill>
                  <a:schemeClr val="bg1"/>
                </a:solidFill>
              </a:rPr>
              <a:t>latent</a:t>
            </a:r>
            <a:r>
              <a:rPr lang="es-EC" sz="2400" dirty="0">
                <a:solidFill>
                  <a:schemeClr val="bg1"/>
                </a:solidFill>
              </a:rPr>
              <a:t> z (2–4 </a:t>
            </a:r>
            <a:r>
              <a:rPr lang="es-EC" sz="2400" dirty="0" err="1">
                <a:solidFill>
                  <a:schemeClr val="bg1"/>
                </a:solidFill>
              </a:rPr>
              <a:t>dims</a:t>
            </a:r>
            <a:r>
              <a:rPr lang="es-EC" sz="2400" dirty="0">
                <a:solidFill>
                  <a:schemeClr val="bg1"/>
                </a:solidFill>
              </a:rPr>
              <a:t>) and </a:t>
            </a:r>
            <a:r>
              <a:rPr lang="es-EC" sz="2400" dirty="0" err="1">
                <a:solidFill>
                  <a:schemeClr val="bg1"/>
                </a:solidFill>
              </a:rPr>
              <a:t>then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Conv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Decoder</a:t>
            </a:r>
            <a:br>
              <a:rPr lang="es-EC" sz="2400" dirty="0">
                <a:solidFill>
                  <a:schemeClr val="bg1"/>
                </a:solidFill>
              </a:rPr>
            </a:b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*</a:t>
            </a:r>
            <a:r>
              <a:rPr lang="es-EC" sz="2400" dirty="0" err="1">
                <a:solidFill>
                  <a:schemeClr val="bg1"/>
                </a:solidFill>
              </a:rPr>
              <a:t>Loss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functions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AE: </a:t>
            </a:r>
            <a:r>
              <a:rPr lang="es-EC" sz="2400" dirty="0" err="1">
                <a:solidFill>
                  <a:schemeClr val="bg1"/>
                </a:solidFill>
              </a:rPr>
              <a:t>Reconstruction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loss</a:t>
            </a:r>
            <a:r>
              <a:rPr lang="es-EC" sz="2400" dirty="0">
                <a:solidFill>
                  <a:schemeClr val="bg1"/>
                </a:solidFill>
              </a:rPr>
              <a:t> MSE + Temporal </a:t>
            </a:r>
            <a:r>
              <a:rPr lang="es-EC" sz="2400" dirty="0" err="1">
                <a:solidFill>
                  <a:schemeClr val="bg1"/>
                </a:solidFill>
              </a:rPr>
              <a:t>Smoothness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term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VAE: </a:t>
            </a:r>
            <a:r>
              <a:rPr lang="es-EC" sz="2400" dirty="0" err="1">
                <a:solidFill>
                  <a:schemeClr val="bg1"/>
                </a:solidFill>
              </a:rPr>
              <a:t>Reconstruction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Divergence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S" sz="2400" dirty="0">
                <a:solidFill>
                  <a:schemeClr val="bg1"/>
                </a:solidFill>
              </a:rPr>
              <a:t>+ Temporal </a:t>
            </a:r>
            <a:r>
              <a:rPr lang="es-EC" sz="2400" dirty="0" err="1">
                <a:solidFill>
                  <a:schemeClr val="bg1"/>
                </a:solidFill>
              </a:rPr>
              <a:t>Smoothness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term</a:t>
            </a:r>
            <a:br>
              <a:rPr lang="es-EC" sz="2400" dirty="0">
                <a:solidFill>
                  <a:schemeClr val="bg1"/>
                </a:solidFill>
              </a:rPr>
            </a:b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*</a:t>
            </a:r>
            <a:r>
              <a:rPr lang="es-EC" sz="2700" dirty="0">
                <a:solidFill>
                  <a:schemeClr val="bg1"/>
                </a:solidFill>
              </a:rPr>
              <a:t>Temporal </a:t>
            </a:r>
            <a:r>
              <a:rPr lang="es-EC" sz="2700" dirty="0" err="1">
                <a:solidFill>
                  <a:schemeClr val="bg1"/>
                </a:solidFill>
              </a:rPr>
              <a:t>smoothness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 err="1">
                <a:solidFill>
                  <a:schemeClr val="bg1"/>
                </a:solidFill>
              </a:rPr>
              <a:t>Forces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latent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to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reflect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continuous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developmental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progression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rather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than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image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artifacts</a:t>
            </a:r>
            <a:br>
              <a:rPr lang="es-EC" sz="800" dirty="0"/>
            </a:b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*</a:t>
            </a:r>
            <a:r>
              <a:rPr lang="es-EC" sz="2400" dirty="0" err="1">
                <a:solidFill>
                  <a:schemeClr val="bg1"/>
                </a:solidFill>
              </a:rPr>
              <a:t>Evaluation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metrics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 </a:t>
            </a:r>
            <a:r>
              <a:rPr lang="es-EC" sz="2400" dirty="0" err="1">
                <a:solidFill>
                  <a:schemeClr val="bg1"/>
                </a:solidFill>
              </a:rPr>
              <a:t>genotype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separability</a:t>
            </a:r>
            <a:r>
              <a:rPr lang="es-EC" sz="2400" dirty="0">
                <a:solidFill>
                  <a:schemeClr val="bg1"/>
                </a:solidFill>
              </a:rPr>
              <a:t> (</a:t>
            </a:r>
            <a:r>
              <a:rPr lang="es-EC" sz="2400" dirty="0" err="1">
                <a:solidFill>
                  <a:schemeClr val="bg1"/>
                </a:solidFill>
              </a:rPr>
              <a:t>silhouette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kNN</a:t>
            </a:r>
            <a:r>
              <a:rPr lang="es-EC" sz="2400" dirty="0">
                <a:solidFill>
                  <a:schemeClr val="bg1"/>
                </a:solidFill>
              </a:rPr>
              <a:t> in </a:t>
            </a:r>
            <a:r>
              <a:rPr lang="es-EC" sz="2400" dirty="0" err="1">
                <a:solidFill>
                  <a:schemeClr val="bg1"/>
                </a:solidFill>
              </a:rPr>
              <a:t>latent</a:t>
            </a:r>
            <a:r>
              <a:rPr lang="es-EC" sz="2400" dirty="0">
                <a:solidFill>
                  <a:schemeClr val="bg1"/>
                </a:solidFill>
              </a:rPr>
              <a:t>)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 </a:t>
            </a:r>
            <a:r>
              <a:rPr lang="es-EC" sz="2400" dirty="0" err="1">
                <a:solidFill>
                  <a:schemeClr val="bg1"/>
                </a:solidFill>
              </a:rPr>
              <a:t>latent</a:t>
            </a:r>
            <a:r>
              <a:rPr lang="es-EC" sz="2400" dirty="0">
                <a:solidFill>
                  <a:schemeClr val="bg1"/>
                </a:solidFill>
              </a:rPr>
              <a:t> time </a:t>
            </a:r>
            <a:r>
              <a:rPr lang="es-EC" sz="2400" dirty="0" err="1">
                <a:solidFill>
                  <a:schemeClr val="bg1"/>
                </a:solidFill>
              </a:rPr>
              <a:t>ordering</a:t>
            </a:r>
            <a:r>
              <a:rPr lang="es-EC" sz="2400" dirty="0">
                <a:solidFill>
                  <a:schemeClr val="bg1"/>
                </a:solidFill>
              </a:rPr>
              <a:t> (Spearman </a:t>
            </a:r>
            <a:r>
              <a:rPr lang="es-EC" sz="2400" dirty="0" err="1">
                <a:solidFill>
                  <a:schemeClr val="bg1"/>
                </a:solidFill>
              </a:rPr>
              <a:t>arc-length</a:t>
            </a:r>
            <a:r>
              <a:rPr lang="es-EC" sz="2400" dirty="0">
                <a:solidFill>
                  <a:schemeClr val="bg1"/>
                </a:solidFill>
              </a:rPr>
              <a:t> vs real time)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 </a:t>
            </a:r>
            <a:r>
              <a:rPr lang="es-EC" sz="2400" dirty="0" err="1">
                <a:solidFill>
                  <a:schemeClr val="bg1"/>
                </a:solidFill>
              </a:rPr>
              <a:t>cross-embryo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stage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alignment</a:t>
            </a:r>
            <a:r>
              <a:rPr lang="es-EC" sz="2400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Dynamic Time Warping Alignment (DTW) </a:t>
            </a:r>
            <a:r>
              <a:rPr lang="es-EC" sz="2400" dirty="0" err="1">
                <a:solidFill>
                  <a:schemeClr val="bg1"/>
                </a:solidFill>
              </a:rPr>
              <a:t>distance</a:t>
            </a:r>
            <a:r>
              <a:rPr lang="es-EC" sz="2400" dirty="0">
                <a:solidFill>
                  <a:schemeClr val="bg1"/>
                </a:solidFill>
              </a:rPr>
              <a:t>)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 </a:t>
            </a:r>
            <a:r>
              <a:rPr lang="es-EC" sz="2400" dirty="0" err="1">
                <a:solidFill>
                  <a:schemeClr val="bg1"/>
                </a:solidFill>
              </a:rPr>
              <a:t>reconstruction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quality</a:t>
            </a:r>
            <a:r>
              <a:rPr lang="es-EC" sz="2400" dirty="0">
                <a:solidFill>
                  <a:schemeClr val="bg1"/>
                </a:solidFill>
              </a:rPr>
              <a:t> (MSE / </a:t>
            </a:r>
            <a:r>
              <a:rPr lang="es-EC" sz="2400" dirty="0" err="1">
                <a:solidFill>
                  <a:schemeClr val="bg1"/>
                </a:solidFill>
              </a:rPr>
              <a:t>Structural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Similarity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Index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Measure</a:t>
            </a:r>
            <a:r>
              <a:rPr lang="es-EC" sz="2400" dirty="0">
                <a:solidFill>
                  <a:schemeClr val="bg1"/>
                </a:solidFill>
              </a:rPr>
              <a:t> (SSIM))</a:t>
            </a:r>
            <a:br>
              <a:rPr lang="es-EC" sz="2400" dirty="0">
                <a:solidFill>
                  <a:schemeClr val="bg1"/>
                </a:solidFill>
              </a:rPr>
            </a:br>
            <a:endParaRPr lang="es-EC" sz="24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79B6F01-175F-4F07-805B-A1C490623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091" y="273066"/>
            <a:ext cx="7818359" cy="507209"/>
          </a:xfrm>
        </p:spPr>
        <p:txBody>
          <a:bodyPr>
            <a:normAutofit/>
          </a:bodyPr>
          <a:lstStyle/>
          <a:p>
            <a:pPr algn="l"/>
            <a:r>
              <a:rPr lang="es-EC" sz="2800" b="1" dirty="0" err="1">
                <a:solidFill>
                  <a:schemeClr val="bg1"/>
                </a:solidFill>
              </a:rPr>
              <a:t>Planned</a:t>
            </a:r>
            <a:r>
              <a:rPr lang="es-EC" sz="2800" b="1" dirty="0">
                <a:solidFill>
                  <a:schemeClr val="bg1"/>
                </a:solidFill>
              </a:rPr>
              <a:t> </a:t>
            </a:r>
            <a:r>
              <a:rPr lang="es-EC" sz="2800" b="1" dirty="0" err="1">
                <a:solidFill>
                  <a:schemeClr val="bg1"/>
                </a:solidFill>
              </a:rPr>
              <a:t>Method</a:t>
            </a:r>
            <a:r>
              <a:rPr lang="es-EC" sz="2800" b="1" dirty="0">
                <a:solidFill>
                  <a:schemeClr val="bg1"/>
                </a:solidFill>
              </a:rPr>
              <a:t> (AE/VAE), </a:t>
            </a:r>
            <a:r>
              <a:rPr lang="es-EC" sz="2800" b="1" dirty="0" err="1">
                <a:solidFill>
                  <a:schemeClr val="bg1"/>
                </a:solidFill>
              </a:rPr>
              <a:t>Losses</a:t>
            </a:r>
            <a:r>
              <a:rPr lang="es-EC" sz="2800" b="1" dirty="0">
                <a:solidFill>
                  <a:schemeClr val="bg1"/>
                </a:solidFill>
              </a:rPr>
              <a:t>, </a:t>
            </a:r>
            <a:r>
              <a:rPr lang="es-EC" sz="2800" b="1" dirty="0" err="1">
                <a:solidFill>
                  <a:schemeClr val="bg1"/>
                </a:solidFill>
              </a:rPr>
              <a:t>Metrics</a:t>
            </a:r>
            <a:endParaRPr lang="es-EC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2396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532</Words>
  <Application>Microsoft Office PowerPoint</Application>
  <PresentationFormat>Panorámica</PresentationFormat>
  <Paragraphs>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From Images to Equations: ML models of zebrafish morphogenesis  Project 04 -  Latent Mapping of Developmental Trajectories</vt:lpstr>
      <vt:lpstr>*Prototype subset used now 2 Control · 2 Mutant A · 2 Mutant B Preprocessed (mask → resize → normalize → align)  *Engineered features used for PCA and time series (25 total) A) Intensity (7 - from masked pixels): i_min, i_max, i_mean, i_std, i_skew, i_kurt, area_mask B) Shape based (9): area, perimeter, eccentricity, solidity, extent, major_axis, minor_axis, aspect_ratio, compactness C) Texture  based (6 - gray-level co-occurrence matrix (GLCM)): contrast, corr, homog, energy, ASM, entropy D) Frequency (3 - FFT spectral bands): low, mid, high bands  * Temporal progression not yet visible as continuous trajectory. PCA on these 25 descriptors give a clear genotype separation, strongest using GLCM textures.</vt:lpstr>
      <vt:lpstr>*Goal Learn low-dimensional latents (2–4D) that (i) order biological time and (ii) separate genotypes, enabling stage alignment across embryos.  *Hypotheses Latent trajectories are smooth over time (blástula to gástrula and so on). Mutants occupy distinct latent spaces vs controls. Latent distances correlate with morphological descriptors (area, aspect ratio, texture).  *Current status • QC + descriptors: mutants diverge early in GLCM textures, the intensity and shape diverge later and the FFT are unstable. •Texture (GLCM) features are the most discriminative (F1=0.95). Intensity and shape also strong (=0.91). FFT adds noise. Combining all features hurts performance due to redundancy and also add noisy dimensions.  Baseline: PCA leads to genotype clustering; no clear temporal path yet. Still missign T-SNE – I dont know if i need to compare between mutants.</vt:lpstr>
      <vt:lpstr>*Model plan (start simple) Autoencoder / VAE on masked 128×128 brightfield frames Conv Encoder to  lead latent z (2–4 dims) and then Conv Decoder  *Loss functions AE: Reconstruction loss MSE + Temporal Smoothness term VAE: Reconstruction Divergence + Temporal Smoothness term  *Temporal smoothness Forces latent to reflect continuous developmental progression rather than image artifacts  *Evaluation metrics • genotype separability (silhouette, kNN in latent) • latent time ordering (Spearman arc-length vs real time) • cross-embryo stage alignment (Dynamic Time Warping Alignment (DTW) distance) • reconstruction quality (MSE / Structural Similarity Index Measure (SSIM))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04 - From Images to Equations: ML models of zebrafish morphogenesis (brightfield time-lapse, 2–16 hpf)</dc:title>
  <dc:creator>PABLO NEPTALI ESCOBAR TIBAN</dc:creator>
  <cp:lastModifiedBy>PABLO NEPTALI ESCOBAR TIBAN</cp:lastModifiedBy>
  <cp:revision>3</cp:revision>
  <dcterms:created xsi:type="dcterms:W3CDTF">2025-11-05T23:25:16Z</dcterms:created>
  <dcterms:modified xsi:type="dcterms:W3CDTF">2025-11-06T00:33:06Z</dcterms:modified>
</cp:coreProperties>
</file>